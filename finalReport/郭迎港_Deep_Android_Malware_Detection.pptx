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71" r:id="rId4"/>
    <p:sldId id="272" r:id="rId5"/>
    <p:sldId id="259" r:id="rId6"/>
    <p:sldId id="275" r:id="rId7"/>
    <p:sldId id="260" r:id="rId8"/>
    <p:sldId id="265" r:id="rId9"/>
    <p:sldId id="261" r:id="rId10"/>
    <p:sldId id="266" r:id="rId11"/>
    <p:sldId id="267" r:id="rId12"/>
    <p:sldId id="262" r:id="rId13"/>
    <p:sldId id="263" r:id="rId14"/>
    <p:sldId id="264" r:id="rId15"/>
    <p:sldId id="269" r:id="rId16"/>
    <p:sldId id="270" r:id="rId17"/>
    <p:sldId id="273" r:id="rId18"/>
    <p:sldId id="274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6FCEE8A-8533-445F-98A6-F873A1A74D90}">
          <p14:sldIdLst>
            <p14:sldId id="257"/>
            <p14:sldId id="258"/>
            <p14:sldId id="271"/>
            <p14:sldId id="272"/>
            <p14:sldId id="259"/>
            <p14:sldId id="275"/>
            <p14:sldId id="260"/>
            <p14:sldId id="265"/>
            <p14:sldId id="261"/>
            <p14:sldId id="266"/>
            <p14:sldId id="267"/>
            <p14:sldId id="262"/>
            <p14:sldId id="263"/>
            <p14:sldId id="264"/>
            <p14:sldId id="269"/>
            <p14:sldId id="270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2BB07F-E6B7-4131-9FF2-7055BC6878C6}" type="datetimeFigureOut">
              <a:rPr lang="zh-CN" altLang="en-US" smtClean="0"/>
              <a:t>2019/12/23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9CA265-6B70-4CE8-9C27-33F6BC499A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78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80D3F3-E999-45C5-B411-BCF2D409F31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718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CA265-6B70-4CE8-9C27-33F6BC499AE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559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左边为反编译得到的</a:t>
            </a:r>
            <a:r>
              <a:rPr lang="en-US" altLang="zh-CN" dirty="0" err="1"/>
              <a:t>dex</a:t>
            </a:r>
            <a:r>
              <a:rPr lang="zh-CN" altLang="en-US" dirty="0"/>
              <a:t>文件，右边为提取的</a:t>
            </a:r>
            <a:r>
              <a:rPr lang="en-US" altLang="zh-CN" dirty="0"/>
              <a:t>java </a:t>
            </a:r>
            <a:r>
              <a:rPr lang="en-US" altLang="zh-CN" dirty="0" err="1"/>
              <a:t>api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CA265-6B70-4CE8-9C27-33F6BC499AE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632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Adb</a:t>
            </a:r>
            <a:r>
              <a:rPr lang="en-US" altLang="zh-CN" dirty="0"/>
              <a:t>:</a:t>
            </a:r>
            <a:r>
              <a:rPr lang="zh-CN" altLang="zh-CN" dirty="0"/>
              <a:t>，利用这一工具可以在</a:t>
            </a:r>
            <a:r>
              <a:rPr lang="en-US" altLang="zh-CN" dirty="0"/>
              <a:t>PC</a:t>
            </a:r>
            <a:r>
              <a:rPr lang="zh-CN" altLang="zh-CN" dirty="0"/>
              <a:t>端对</a:t>
            </a:r>
            <a:r>
              <a:rPr lang="en-US" altLang="zh-CN" dirty="0"/>
              <a:t>Android</a:t>
            </a:r>
            <a:r>
              <a:rPr lang="zh-CN" altLang="zh-CN" dirty="0"/>
              <a:t>系统进行各种调试操作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CA265-6B70-4CE8-9C27-33F6BC499AE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3239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CA265-6B70-4CE8-9C27-33F6BC499AE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902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上面为系统调用得到的序列文件</a:t>
            </a:r>
            <a:endParaRPr lang="en-US" altLang="zh-CN" dirty="0"/>
          </a:p>
          <a:p>
            <a:r>
              <a:rPr lang="zh-CN" altLang="en-US" dirty="0"/>
              <a:t>下面为使用切片操作得到的系统调用序列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CA265-6B70-4CE8-9C27-33F6BC499AE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051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其中可用的为</a:t>
            </a:r>
            <a:r>
              <a:rPr lang="en-US" altLang="zh-CN" dirty="0"/>
              <a:t>997</a:t>
            </a:r>
            <a:r>
              <a:rPr lang="zh-CN" altLang="en-US" dirty="0"/>
              <a:t>和</a:t>
            </a:r>
            <a:r>
              <a:rPr lang="en-US" altLang="zh-CN" dirty="0"/>
              <a:t>1010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CA265-6B70-4CE8-9C27-33F6BC499AE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733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横轴是指迭代的轮数，纵轴是准确率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CA265-6B70-4CE8-9C27-33F6BC499AE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16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C310E-0B30-44FC-BCF2-6A9775650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CA724E9-FA31-47F0-AAA7-BBB0E2432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690D89-64DC-47F8-9179-9A3622442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0F765-3309-42CD-8012-73F35B9B9F37}" type="datetimeFigureOut">
              <a:rPr lang="zh-CN" altLang="en-US" smtClean="0"/>
              <a:t>2019/12/23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AA8CE3-1F9D-4BFC-B7AC-C984ECF7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0A6030-6ED3-45ED-8B5E-2CD23B88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5468F-4803-4BF8-91EE-71F62A0B8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088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C61A4-92D6-4FD6-ACFD-13C09E61C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DAA5F1-30CD-4421-833D-B4AE42EEE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87701D-74C5-402C-B6F4-55AA6BBC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0F765-3309-42CD-8012-73F35B9B9F37}" type="datetimeFigureOut">
              <a:rPr lang="zh-CN" altLang="en-US" smtClean="0"/>
              <a:t>2019/12/23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AF1F9-D7AC-4CF8-9B0A-FF581FACE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1EEC8A-CA05-4E17-96B1-07CAF6987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5468F-4803-4BF8-91EE-71F62A0B8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494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2E4FA-465F-4048-AC15-34378187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2500E8-9869-4A28-B853-0BE156ACA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64DC19-246A-43E1-A1CB-FDEF71809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0F765-3309-42CD-8012-73F35B9B9F37}" type="datetimeFigureOut">
              <a:rPr lang="zh-CN" altLang="en-US" smtClean="0"/>
              <a:t>2019/12/23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1160BD-1635-4B94-B729-03DB90D6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E6C269-60E4-4EE8-95B2-200143F9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5468F-4803-4BF8-91EE-71F62A0B8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486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4CD498-4CC2-41D2-AD55-4608D9E5B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0E0CB1-A46F-4A68-A054-5655565ED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589544-0A55-4C01-B2A3-9E7A24447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9DBA93-C637-4AE4-862B-42382D004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0F765-3309-42CD-8012-73F35B9B9F37}" type="datetimeFigureOut">
              <a:rPr lang="zh-CN" altLang="en-US" smtClean="0"/>
              <a:t>2019/12/23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DF1898-62B2-44AD-8E9C-731B9995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508841-2516-4770-9D81-4CA1396CC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5468F-4803-4BF8-91EE-71F62A0B8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917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A8EBDA-3D73-4C6A-8672-AD923B056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1C3415-10E3-4431-B376-FC0193E81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8808A3-A69B-4E90-9190-E8C4DE701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18274A-D1C4-4A88-B5C6-4AD0284AB7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FF68D5-7E27-45FD-BB88-C059CD3A4B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62B5613-5E11-4080-8746-3CCA69142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0F765-3309-42CD-8012-73F35B9B9F37}" type="datetimeFigureOut">
              <a:rPr lang="zh-CN" altLang="en-US" smtClean="0"/>
              <a:t>2019/12/23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04375D-F952-4F65-BFD9-678682695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C80E69-73F1-44B1-974A-2B9B5EC76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5468F-4803-4BF8-91EE-71F62A0B8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553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41D333-4959-4C8F-B9E1-DA14B8B34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F5092E7-C8FD-4B8D-9DBA-DA58A8694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0F765-3309-42CD-8012-73F35B9B9F37}" type="datetimeFigureOut">
              <a:rPr lang="zh-CN" altLang="en-US" smtClean="0"/>
              <a:t>2019/12/23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2B0EE5B-D0A9-4419-9664-90C4A2329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1AA8AC-028C-46DA-A8B9-0EB09911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5468F-4803-4BF8-91EE-71F62A0B8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8795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70C773-8660-47FD-90D5-98CD8B306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0F765-3309-42CD-8012-73F35B9B9F37}" type="datetimeFigureOut">
              <a:rPr lang="zh-CN" altLang="en-US" smtClean="0"/>
              <a:t>2019/12/23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581B95-4285-4077-B6F5-DEF36FE18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99348C-6045-4EEF-9E66-4F3B07CA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5468F-4803-4BF8-91EE-71F62A0B8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894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141BB1-4471-404F-B5A9-E478A50AB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115D67-47F7-4E34-9DCF-57C37E54D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2F5294-E5D6-49EF-85A4-1A7A74EC3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384154-18DE-480D-B4C3-12BF4086C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0F765-3309-42CD-8012-73F35B9B9F37}" type="datetimeFigureOut">
              <a:rPr lang="zh-CN" altLang="en-US" smtClean="0"/>
              <a:t>2019/12/23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51F1AA-48FE-4AE9-81AF-AC563F3A1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AC7E4C-7332-4B08-A707-BFF106DDD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5468F-4803-4BF8-91EE-71F62A0B8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77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806A13-A969-43D3-9CE4-CC6A130F1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ACB402-7833-41B9-8E4D-AF7BB8F5D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521B20-2ACC-4423-9C41-058A4A2BD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05B843-B5AC-427E-B2DF-538C5380F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0F765-3309-42CD-8012-73F35B9B9F37}" type="datetimeFigureOut">
              <a:rPr lang="zh-CN" altLang="en-US" smtClean="0"/>
              <a:t>2019/12/23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CC59DE-3796-4209-B62E-5711B374D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FB6230-8BFD-4DB1-837C-A14A3739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5468F-4803-4BF8-91EE-71F62A0B8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53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21430D-4DBB-4FBB-9C5B-2648A88A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760973-4ED9-4642-8513-F7E89E6C9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7A0D3-FBD1-4C1B-8438-9DE989E87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0F765-3309-42CD-8012-73F35B9B9F37}" type="datetimeFigureOut">
              <a:rPr lang="zh-CN" altLang="en-US" smtClean="0"/>
              <a:t>2019/12/23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403CFA-666E-4C1B-9DEB-FBEE66F43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B80AEF-1E1B-46B8-82AF-6960A57F6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5468F-4803-4BF8-91EE-71F62A0B8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782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A15956-BED8-4E7A-A67F-5778D3C07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A01A66-9C06-470E-A0CA-DB80FEAA8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B57F17-AAEF-4051-BDC5-5653BB022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0F765-3309-42CD-8012-73F35B9B9F37}" type="datetimeFigureOut">
              <a:rPr lang="zh-CN" altLang="en-US" smtClean="0"/>
              <a:t>2019/12/23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424848-CACD-4041-BC7A-28772F3C0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A5B286-151F-46D2-A777-C259D60A0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5468F-4803-4BF8-91EE-71F62A0B8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68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CCA8702-B482-44EE-AEE0-147D37671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D884D3-AF9B-4D94-8B5B-4B65056A6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A3C60E-99EB-40E4-8B52-D1ED92DAF2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0F765-3309-42CD-8012-73F35B9B9F37}" type="datetimeFigureOut">
              <a:rPr lang="zh-CN" altLang="en-US" smtClean="0"/>
              <a:t>2019/12/23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8841A6-3062-49D6-AC4C-7A4A99D85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13DB87-1627-47C8-BF8A-9CD8BA283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5468F-4803-4BF8-91EE-71F62A0B87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599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F8D219-D1B2-4468-B21E-4AC31A4EF5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Deep Android Malware Detection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B34892-0933-4664-BC7E-D1D244C1FE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altLang="zh-CN" dirty="0"/>
          </a:p>
          <a:p>
            <a:r>
              <a:rPr lang="zh-CN" altLang="en-US" dirty="0"/>
              <a:t>小组成员</a:t>
            </a:r>
            <a:endParaRPr lang="en-US" altLang="zh-CN" dirty="0"/>
          </a:p>
          <a:p>
            <a:r>
              <a:rPr lang="en-US" altLang="zh-CN" dirty="0"/>
              <a:t>DZ1933008  </a:t>
            </a:r>
            <a:r>
              <a:rPr lang="zh-CN" altLang="en-US" dirty="0"/>
              <a:t>郭迎港</a:t>
            </a:r>
            <a:r>
              <a:rPr lang="en-US" altLang="zh-CN" dirty="0"/>
              <a:t>      MF1933040  </a:t>
            </a:r>
            <a:r>
              <a:rPr lang="zh-CN" altLang="en-US" dirty="0"/>
              <a:t>贾晓玉</a:t>
            </a:r>
            <a:endParaRPr lang="en-US" altLang="zh-CN" dirty="0"/>
          </a:p>
          <a:p>
            <a:r>
              <a:rPr lang="en-US" altLang="zh-CN" dirty="0"/>
              <a:t>MG1933060 </a:t>
            </a:r>
            <a:r>
              <a:rPr lang="zh-CN" altLang="en-US" dirty="0"/>
              <a:t>王文</a:t>
            </a:r>
            <a:r>
              <a:rPr lang="en-US" altLang="zh-CN" dirty="0"/>
              <a:t>          MG1933088  </a:t>
            </a:r>
            <a:r>
              <a:rPr lang="zh-CN" altLang="en-US" dirty="0"/>
              <a:t>袁佳莉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1585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92AEF9-782C-43D8-B776-0AF4752C8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EC0D8E-4A43-4412-A167-FEB1C781C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二分类问题</a:t>
            </a:r>
            <a:endParaRPr lang="en-US" altLang="zh-CN" dirty="0"/>
          </a:p>
          <a:p>
            <a:pPr lvl="1"/>
            <a:r>
              <a:rPr lang="zh-CN" altLang="en-US" dirty="0"/>
              <a:t>判断安卓应用程序是否为恶意</a:t>
            </a:r>
            <a:endParaRPr lang="en-US" altLang="zh-CN" dirty="0"/>
          </a:p>
          <a:p>
            <a:r>
              <a:rPr lang="zh-CN" altLang="en-US" dirty="0"/>
              <a:t>多分类问题</a:t>
            </a:r>
            <a:endParaRPr lang="en-US" altLang="zh-CN" dirty="0"/>
          </a:p>
          <a:p>
            <a:pPr lvl="1"/>
            <a:r>
              <a:rPr lang="zh-CN" altLang="en-US" dirty="0"/>
              <a:t>判断恶意的安卓应用程序属于哪一种恶意程序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3925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9B0A3-D177-4C2A-B403-0EB8B6E26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相关工作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83504A-39D5-4154-8AB1-868A5C200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MalDozer</a:t>
            </a:r>
            <a:r>
              <a:rPr lang="en-US" altLang="zh-CN" dirty="0"/>
              <a:t>: Automatic framework for android malware detection using deep learning</a:t>
            </a:r>
          </a:p>
          <a:p>
            <a:pPr lvl="1"/>
            <a:r>
              <a:rPr lang="zh-CN" altLang="en-US" dirty="0"/>
              <a:t>使用了</a:t>
            </a:r>
            <a:r>
              <a:rPr lang="zh-CN" altLang="en-US" dirty="0">
                <a:solidFill>
                  <a:srgbClr val="FF0000"/>
                </a:solidFill>
              </a:rPr>
              <a:t>静态分析</a:t>
            </a:r>
            <a:r>
              <a:rPr lang="zh-CN" altLang="en-US" dirty="0"/>
              <a:t>的方法，提取了</a:t>
            </a:r>
            <a:r>
              <a:rPr lang="en-US" altLang="zh-CN" dirty="0" err="1"/>
              <a:t>apk</a:t>
            </a:r>
            <a:r>
              <a:rPr lang="zh-CN" altLang="en-US" dirty="0"/>
              <a:t>中的</a:t>
            </a:r>
            <a:r>
              <a:rPr lang="en-US" altLang="zh-CN" dirty="0" err="1"/>
              <a:t>api</a:t>
            </a:r>
            <a:r>
              <a:rPr lang="zh-CN" altLang="en-US" dirty="0"/>
              <a:t>序列，经过</a:t>
            </a:r>
            <a:r>
              <a:rPr lang="en-US" altLang="zh-CN" dirty="0"/>
              <a:t>embedding</a:t>
            </a:r>
            <a:r>
              <a:rPr lang="zh-CN" altLang="en-US" dirty="0"/>
              <a:t>向量化处理，通过</a:t>
            </a:r>
            <a:r>
              <a:rPr lang="en-US" altLang="zh-CN" dirty="0"/>
              <a:t>CNN</a:t>
            </a:r>
            <a:r>
              <a:rPr lang="zh-CN" altLang="en-US" dirty="0"/>
              <a:t>网络的处理，实现安卓恶意应用程序的检测</a:t>
            </a:r>
            <a:endParaRPr lang="en-US" altLang="zh-CN" dirty="0"/>
          </a:p>
          <a:p>
            <a:r>
              <a:rPr lang="en-US" altLang="zh-CN" dirty="0"/>
              <a:t>Android malware detection based on system call sequences and LSTM</a:t>
            </a:r>
          </a:p>
          <a:p>
            <a:pPr lvl="1"/>
            <a:r>
              <a:rPr lang="zh-CN" altLang="en-US" dirty="0"/>
              <a:t>使用了</a:t>
            </a:r>
            <a:r>
              <a:rPr lang="zh-CN" altLang="en-US" dirty="0">
                <a:solidFill>
                  <a:srgbClr val="FF0000"/>
                </a:solidFill>
              </a:rPr>
              <a:t>动态分析</a:t>
            </a:r>
            <a:r>
              <a:rPr lang="zh-CN" altLang="en-US" dirty="0"/>
              <a:t>的方法，动态提取了系统调用中的序列，使用</a:t>
            </a:r>
            <a:r>
              <a:rPr lang="en-US" altLang="zh-CN" dirty="0" err="1"/>
              <a:t>lstm</a:t>
            </a:r>
            <a:r>
              <a:rPr lang="zh-CN" altLang="en-US" dirty="0"/>
              <a:t>网络，实现安卓应用程序的检测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556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95B66-8791-4D04-870C-F855D2523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我们的工作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BF38C0-6413-4297-897E-B758A831D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对每个安卓应用程序，分别进行</a:t>
            </a:r>
            <a:r>
              <a:rPr lang="zh-CN" altLang="en-US" dirty="0">
                <a:solidFill>
                  <a:srgbClr val="FF0000"/>
                </a:solidFill>
              </a:rPr>
              <a:t>静态分析，动态分析</a:t>
            </a:r>
            <a:r>
              <a:rPr lang="zh-CN" altLang="en-US" dirty="0"/>
              <a:t>，得到两段序列，将其</a:t>
            </a:r>
            <a:r>
              <a:rPr lang="zh-CN" altLang="en-US" dirty="0">
                <a:solidFill>
                  <a:srgbClr val="FF0000"/>
                </a:solidFill>
              </a:rPr>
              <a:t>拼接</a:t>
            </a:r>
            <a:r>
              <a:rPr lang="zh-CN" altLang="en-US" dirty="0"/>
              <a:t>进行分析。</a:t>
            </a:r>
            <a:endParaRPr lang="en-US" altLang="zh-CN" dirty="0"/>
          </a:p>
          <a:p>
            <a:r>
              <a:rPr lang="zh-CN" altLang="en-US" dirty="0"/>
              <a:t>使用了</a:t>
            </a:r>
            <a:r>
              <a:rPr lang="en-US" altLang="zh-CN" dirty="0">
                <a:solidFill>
                  <a:srgbClr val="FF0000"/>
                </a:solidFill>
              </a:rPr>
              <a:t>embedding</a:t>
            </a:r>
            <a:r>
              <a:rPr lang="zh-CN" altLang="en-US" dirty="0">
                <a:solidFill>
                  <a:srgbClr val="FF0000"/>
                </a:solidFill>
              </a:rPr>
              <a:t>向量化</a:t>
            </a:r>
            <a:r>
              <a:rPr lang="zh-CN" altLang="en-US" dirty="0"/>
              <a:t>的方法，生成紧凑型的向量数据。</a:t>
            </a:r>
            <a:endParaRPr lang="en-US" altLang="zh-CN" dirty="0"/>
          </a:p>
          <a:p>
            <a:r>
              <a:rPr lang="zh-CN" altLang="en-US" dirty="0"/>
              <a:t>分别测试了</a:t>
            </a:r>
            <a:r>
              <a:rPr lang="en-US" altLang="zh-CN" dirty="0">
                <a:solidFill>
                  <a:srgbClr val="FF0000"/>
                </a:solidFill>
              </a:rPr>
              <a:t>CNN</a:t>
            </a:r>
            <a:r>
              <a:rPr lang="zh-CN" altLang="en-US" dirty="0">
                <a:solidFill>
                  <a:srgbClr val="FF0000"/>
                </a:solidFill>
              </a:rPr>
              <a:t>网络</a:t>
            </a:r>
            <a:r>
              <a:rPr lang="zh-CN" altLang="en-US" dirty="0"/>
              <a:t>和</a:t>
            </a:r>
            <a:r>
              <a:rPr lang="en-US" altLang="zh-CN" dirty="0" err="1">
                <a:solidFill>
                  <a:srgbClr val="FF0000"/>
                </a:solidFill>
              </a:rPr>
              <a:t>lstm</a:t>
            </a:r>
            <a:r>
              <a:rPr lang="zh-CN" altLang="en-US" dirty="0">
                <a:solidFill>
                  <a:srgbClr val="FF0000"/>
                </a:solidFill>
              </a:rPr>
              <a:t>网络</a:t>
            </a:r>
            <a:r>
              <a:rPr lang="zh-CN" altLang="en-US" dirty="0"/>
              <a:t>对上述向量段分析的效果。</a:t>
            </a:r>
          </a:p>
        </p:txBody>
      </p:sp>
    </p:spTree>
    <p:extLst>
      <p:ext uri="{BB962C8B-B14F-4D97-AF65-F5344CB8AC3E}">
        <p14:creationId xmlns:p14="http://schemas.microsoft.com/office/powerpoint/2010/main" val="2849639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8ABFE-5036-4312-BC1E-BC0780994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项目概述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26A3D9-C3F7-4AB5-8B54-F4CFF832D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输入：待检测的安卓应用程序</a:t>
            </a:r>
            <a:r>
              <a:rPr lang="en-US" altLang="zh-CN" dirty="0" err="1"/>
              <a:t>apk</a:t>
            </a:r>
            <a:r>
              <a:rPr lang="zh-CN" altLang="en-US" dirty="0"/>
              <a:t>文件</a:t>
            </a:r>
            <a:endParaRPr lang="en-US" altLang="zh-CN" dirty="0"/>
          </a:p>
          <a:p>
            <a:r>
              <a:rPr lang="zh-CN" altLang="en-US" dirty="0"/>
              <a:t>输出：目标安卓软件是否为恶意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E7BF2F5-6757-4BAC-99DD-12A47D7ED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05113"/>
            <a:ext cx="9462545" cy="318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84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04855E-3BFF-4404-A396-BC9A6C94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小组分工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3645A7-EA48-4A49-A96F-ECC81C592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郭迎港：数据收集，安卓应用程序动态分析</a:t>
            </a:r>
            <a:endParaRPr lang="en-US" altLang="zh-CN" dirty="0"/>
          </a:p>
          <a:p>
            <a:r>
              <a:rPr lang="zh-CN" altLang="en-US" dirty="0"/>
              <a:t>贾晓玉：安卓应用程序静态分析</a:t>
            </a:r>
            <a:endParaRPr lang="en-US" altLang="zh-CN" dirty="0"/>
          </a:p>
          <a:p>
            <a:r>
              <a:rPr lang="zh-CN" altLang="en-US" dirty="0"/>
              <a:t>王文：神经网络构建，调试，实验结果整理</a:t>
            </a:r>
            <a:endParaRPr lang="en-US" altLang="zh-CN" dirty="0"/>
          </a:p>
          <a:p>
            <a:r>
              <a:rPr lang="zh-CN" altLang="en-US" dirty="0"/>
              <a:t>袁佳莉：数据清洗和预处理，实验结果整理</a:t>
            </a:r>
          </a:p>
        </p:txBody>
      </p:sp>
    </p:spTree>
    <p:extLst>
      <p:ext uri="{BB962C8B-B14F-4D97-AF65-F5344CB8AC3E}">
        <p14:creationId xmlns:p14="http://schemas.microsoft.com/office/powerpoint/2010/main" val="66062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D037F1-16C0-45F4-803D-A46FC6F36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E090E5-2037-4344-A0A1-E7EC1C6B3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提取</a:t>
            </a:r>
            <a:r>
              <a:rPr lang="en-US" altLang="zh-CN" dirty="0" err="1"/>
              <a:t>apk</a:t>
            </a:r>
            <a:r>
              <a:rPr lang="zh-CN" altLang="en-US" dirty="0"/>
              <a:t>文件中的</a:t>
            </a:r>
            <a:r>
              <a:rPr lang="en-US" altLang="zh-CN" dirty="0" err="1">
                <a:solidFill>
                  <a:srgbClr val="FF0000"/>
                </a:solidFill>
              </a:rPr>
              <a:t>dex</a:t>
            </a:r>
            <a:r>
              <a:rPr lang="zh-CN" altLang="en-US" dirty="0">
                <a:solidFill>
                  <a:srgbClr val="FF0000"/>
                </a:solidFill>
              </a:rPr>
              <a:t>文件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使用</a:t>
            </a:r>
            <a:r>
              <a:rPr lang="en-US" altLang="zh-CN" dirty="0" err="1"/>
              <a:t>dexdump</a:t>
            </a:r>
            <a:r>
              <a:rPr lang="zh-CN" altLang="en-US" dirty="0"/>
              <a:t>工具</a:t>
            </a:r>
            <a:r>
              <a:rPr lang="zh-CN" altLang="en-US" dirty="0">
                <a:solidFill>
                  <a:srgbClr val="FF0000"/>
                </a:solidFill>
              </a:rPr>
              <a:t>反汇编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利用</a:t>
            </a:r>
            <a:r>
              <a:rPr lang="zh-CN" altLang="en-US" dirty="0">
                <a:solidFill>
                  <a:srgbClr val="FF0000"/>
                </a:solidFill>
              </a:rPr>
              <a:t>正则表达式</a:t>
            </a:r>
            <a:r>
              <a:rPr lang="zh-CN" altLang="en-US" dirty="0"/>
              <a:t>提取出其中的</a:t>
            </a:r>
            <a:r>
              <a:rPr lang="en-US" altLang="zh-CN" dirty="0"/>
              <a:t>java </a:t>
            </a:r>
            <a:r>
              <a:rPr lang="en-US" altLang="zh-CN" dirty="0" err="1"/>
              <a:t>api</a:t>
            </a:r>
            <a:r>
              <a:rPr lang="zh-CN" altLang="en-US" dirty="0"/>
              <a:t>序列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Dex</a:t>
            </a:r>
            <a:r>
              <a:rPr lang="zh-CN" altLang="en-US" dirty="0"/>
              <a:t>文件：记录整个工程中所有类的信息</a:t>
            </a:r>
          </a:p>
        </p:txBody>
      </p:sp>
    </p:spTree>
    <p:extLst>
      <p:ext uri="{BB962C8B-B14F-4D97-AF65-F5344CB8AC3E}">
        <p14:creationId xmlns:p14="http://schemas.microsoft.com/office/powerpoint/2010/main" val="3801042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417019-0FD2-496D-90C4-00F7277E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静态分析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527AD2-2986-4BAD-8B81-FB669BD45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F5E6223-8EF8-416D-9947-0A58C1204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72" y="1825623"/>
            <a:ext cx="7033213" cy="466725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A62DFF8-08C4-4505-99C8-836D1C321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698" y="2869626"/>
            <a:ext cx="4054191" cy="2263336"/>
          </a:xfrm>
          <a:prstGeom prst="rect">
            <a:avLst/>
          </a:prstGeom>
        </p:spPr>
      </p:pic>
      <p:sp>
        <p:nvSpPr>
          <p:cNvPr id="6" name="箭头: 右 5">
            <a:extLst>
              <a:ext uri="{FF2B5EF4-FFF2-40B4-BE49-F238E27FC236}">
                <a16:creationId xmlns:a16="http://schemas.microsoft.com/office/drawing/2014/main" id="{B860B0EA-DD55-40DF-8A7C-8928683C6AFA}"/>
              </a:ext>
            </a:extLst>
          </p:cNvPr>
          <p:cNvSpPr/>
          <p:nvPr/>
        </p:nvSpPr>
        <p:spPr>
          <a:xfrm>
            <a:off x="6695527" y="3713776"/>
            <a:ext cx="1140643" cy="5750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082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E56273-4129-466A-98AB-13D5CDC29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A42DAD-0F89-462B-B508-2CDE719F4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Android</a:t>
            </a:r>
            <a:r>
              <a:rPr lang="zh-CN" altLang="zh-CN" dirty="0"/>
              <a:t>应用</a:t>
            </a:r>
            <a:r>
              <a:rPr lang="zh-CN" altLang="zh-CN" dirty="0">
                <a:solidFill>
                  <a:srgbClr val="FF0000"/>
                </a:solidFill>
              </a:rPr>
              <a:t>运行时</a:t>
            </a:r>
            <a:r>
              <a:rPr lang="zh-CN" altLang="zh-CN" dirty="0"/>
              <a:t>系统调用序列提取</a:t>
            </a:r>
            <a:endParaRPr lang="en-US" altLang="zh-CN" dirty="0"/>
          </a:p>
          <a:p>
            <a:r>
              <a:rPr lang="zh-CN" altLang="zh-CN" dirty="0"/>
              <a:t>通</a:t>
            </a:r>
            <a:r>
              <a:rPr lang="zh-CN" altLang="en-US" dirty="0"/>
              <a:t>过</a:t>
            </a:r>
            <a:r>
              <a:rPr lang="en-US" altLang="zh-CN" dirty="0" err="1">
                <a:solidFill>
                  <a:srgbClr val="FF0000"/>
                </a:solidFill>
              </a:rPr>
              <a:t>adb+strace+monkey</a:t>
            </a:r>
            <a:r>
              <a:rPr lang="zh-CN" altLang="zh-CN" dirty="0"/>
              <a:t>的方法获取应用在其中运行时的系统调用序列。</a:t>
            </a:r>
            <a:endParaRPr lang="en-US" altLang="zh-CN" dirty="0"/>
          </a:p>
          <a:p>
            <a:pPr lvl="1"/>
            <a:r>
              <a:rPr lang="en-US" altLang="zh-CN" dirty="0" err="1"/>
              <a:t>Adb</a:t>
            </a:r>
            <a:r>
              <a:rPr lang="en-US" altLang="zh-CN" dirty="0"/>
              <a:t>:</a:t>
            </a:r>
            <a:r>
              <a:rPr lang="zh-CN" altLang="zh-CN" dirty="0"/>
              <a:t>安卓调试桥，是一个将</a:t>
            </a:r>
            <a:r>
              <a:rPr lang="en-US" altLang="zh-CN" dirty="0"/>
              <a:t>PC</a:t>
            </a:r>
            <a:r>
              <a:rPr lang="zh-CN" altLang="zh-CN" dirty="0"/>
              <a:t>端和</a:t>
            </a:r>
            <a:r>
              <a:rPr lang="en-US" altLang="zh-CN" dirty="0"/>
              <a:t>Android</a:t>
            </a:r>
            <a:r>
              <a:rPr lang="zh-CN" altLang="zh-CN" dirty="0"/>
              <a:t>系统</a:t>
            </a:r>
            <a:r>
              <a:rPr lang="zh-CN" altLang="zh-CN" dirty="0">
                <a:solidFill>
                  <a:srgbClr val="FF0000"/>
                </a:solidFill>
              </a:rPr>
              <a:t>打通</a:t>
            </a:r>
            <a:r>
              <a:rPr lang="zh-CN" altLang="zh-CN" dirty="0"/>
              <a:t>的命令行工具。</a:t>
            </a:r>
            <a:endParaRPr lang="en-US" altLang="zh-CN" dirty="0"/>
          </a:p>
          <a:p>
            <a:pPr lvl="1"/>
            <a:r>
              <a:rPr lang="en-US" altLang="zh-CN" dirty="0" err="1"/>
              <a:t>Strace:Linux</a:t>
            </a:r>
            <a:r>
              <a:rPr lang="zh-CN" altLang="zh-CN" dirty="0"/>
              <a:t>系统下的一个</a:t>
            </a:r>
            <a:r>
              <a:rPr lang="zh-CN" altLang="zh-CN" dirty="0">
                <a:solidFill>
                  <a:srgbClr val="FF0000"/>
                </a:solidFill>
              </a:rPr>
              <a:t>调试分析工具</a:t>
            </a:r>
            <a:r>
              <a:rPr lang="zh-CN" altLang="zh-CN" dirty="0"/>
              <a:t>，用来跟踪进程执行时的系统调用和所接受的信号，</a:t>
            </a:r>
            <a:endParaRPr lang="en-US" altLang="zh-CN" dirty="0"/>
          </a:p>
          <a:p>
            <a:pPr lvl="1"/>
            <a:r>
              <a:rPr lang="en-US" altLang="zh-CN" dirty="0"/>
              <a:t>Monkey:</a:t>
            </a:r>
            <a:r>
              <a:rPr lang="zh-CN" altLang="zh-CN" dirty="0"/>
              <a:t>对相应应用程序进行一系列</a:t>
            </a:r>
            <a:r>
              <a:rPr lang="zh-CN" altLang="zh-CN" dirty="0">
                <a:solidFill>
                  <a:srgbClr val="FF0000"/>
                </a:solidFill>
              </a:rPr>
              <a:t>随机操作</a:t>
            </a:r>
            <a:r>
              <a:rPr lang="zh-CN" altLang="zh-CN" dirty="0"/>
              <a:t>，常用于压力测试。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50656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A713E6-6EC3-4131-B23F-811140AB2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82BB0A-11A3-4931-8100-7429731C1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zh-CN" altLang="zh-CN" dirty="0"/>
              <a:t>打开虚拟机，并与宿主机</a:t>
            </a:r>
            <a:r>
              <a:rPr lang="zh-CN" altLang="zh-CN" dirty="0">
                <a:solidFill>
                  <a:srgbClr val="FF0000"/>
                </a:solidFill>
              </a:rPr>
              <a:t>建立连接</a:t>
            </a:r>
          </a:p>
          <a:p>
            <a:pPr lvl="0"/>
            <a:r>
              <a:rPr lang="zh-CN" altLang="zh-CN" dirty="0"/>
              <a:t>使用</a:t>
            </a:r>
            <a:r>
              <a:rPr lang="en-US" altLang="zh-CN" dirty="0" err="1"/>
              <a:t>ps</a:t>
            </a:r>
            <a:r>
              <a:rPr lang="zh-CN" altLang="zh-CN" dirty="0"/>
              <a:t>命令</a:t>
            </a:r>
            <a:r>
              <a:rPr lang="zh-CN" altLang="zh-CN" dirty="0">
                <a:solidFill>
                  <a:srgbClr val="FF0000"/>
                </a:solidFill>
              </a:rPr>
              <a:t>获取</a:t>
            </a:r>
            <a:r>
              <a:rPr lang="en-US" altLang="zh-CN" dirty="0">
                <a:solidFill>
                  <a:srgbClr val="FF0000"/>
                </a:solidFill>
              </a:rPr>
              <a:t>zygote</a:t>
            </a:r>
            <a:r>
              <a:rPr lang="zh-CN" altLang="zh-CN" dirty="0">
                <a:solidFill>
                  <a:srgbClr val="FF0000"/>
                </a:solidFill>
              </a:rPr>
              <a:t>进程号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Android</a:t>
            </a:r>
            <a:r>
              <a:rPr lang="zh-CN" altLang="zh-CN" dirty="0"/>
              <a:t>系统中的用户应用程序的运行时父进程均为</a:t>
            </a:r>
            <a:r>
              <a:rPr lang="en-US" altLang="zh-CN" dirty="0"/>
              <a:t>zygote.</a:t>
            </a:r>
            <a:endParaRPr lang="zh-CN" altLang="zh-CN" dirty="0"/>
          </a:p>
          <a:p>
            <a:pPr lvl="0"/>
            <a:r>
              <a:rPr lang="zh-CN" altLang="zh-CN" dirty="0"/>
              <a:t>安装应用程序并</a:t>
            </a:r>
            <a:r>
              <a:rPr lang="zh-CN" altLang="zh-CN" dirty="0">
                <a:solidFill>
                  <a:srgbClr val="FF0000"/>
                </a:solidFill>
              </a:rPr>
              <a:t>获取其包名</a:t>
            </a:r>
          </a:p>
          <a:p>
            <a:pPr lvl="0"/>
            <a:r>
              <a:rPr lang="zh-CN" altLang="zh-CN" dirty="0"/>
              <a:t>创建两个线程，一个使用</a:t>
            </a:r>
            <a:r>
              <a:rPr lang="en-US" altLang="zh-CN" dirty="0" err="1"/>
              <a:t>strace</a:t>
            </a:r>
            <a:r>
              <a:rPr lang="zh-CN" altLang="zh-CN" dirty="0"/>
              <a:t>命令</a:t>
            </a:r>
            <a:r>
              <a:rPr lang="zh-CN" altLang="zh-CN" dirty="0">
                <a:solidFill>
                  <a:srgbClr val="FF0000"/>
                </a:solidFill>
              </a:rPr>
              <a:t>提取系统调用</a:t>
            </a:r>
            <a:r>
              <a:rPr lang="zh-CN" altLang="zh-CN" dirty="0"/>
              <a:t>到</a:t>
            </a:r>
            <a:r>
              <a:rPr lang="en-US" altLang="zh-CN" dirty="0"/>
              <a:t>Android</a:t>
            </a:r>
            <a:r>
              <a:rPr lang="zh-CN" altLang="zh-CN" dirty="0"/>
              <a:t>系统中的文件</a:t>
            </a:r>
            <a:r>
              <a:rPr lang="zh-CN" altLang="en-US" dirty="0"/>
              <a:t>，</a:t>
            </a:r>
            <a:r>
              <a:rPr lang="zh-CN" altLang="zh-CN" dirty="0"/>
              <a:t>一个使用</a:t>
            </a:r>
            <a:r>
              <a:rPr lang="en-US" altLang="zh-CN" dirty="0"/>
              <a:t>monkey</a:t>
            </a:r>
            <a:r>
              <a:rPr lang="zh-CN" altLang="zh-CN" dirty="0"/>
              <a:t>命令</a:t>
            </a:r>
            <a:r>
              <a:rPr lang="zh-CN" altLang="zh-CN" dirty="0">
                <a:solidFill>
                  <a:srgbClr val="FF0000"/>
                </a:solidFill>
              </a:rPr>
              <a:t>随机运行</a:t>
            </a:r>
            <a:r>
              <a:rPr lang="zh-CN" altLang="zh-CN" dirty="0"/>
              <a:t>应用</a:t>
            </a:r>
            <a:r>
              <a:rPr lang="en-US" altLang="zh-CN" dirty="0"/>
              <a:t>2000</a:t>
            </a:r>
            <a:r>
              <a:rPr lang="zh-CN" altLang="zh-CN" dirty="0"/>
              <a:t>次（最长运行</a:t>
            </a:r>
            <a:r>
              <a:rPr lang="en-US" altLang="zh-CN" dirty="0"/>
              <a:t>5s</a:t>
            </a:r>
            <a:r>
              <a:rPr lang="zh-CN" altLang="zh-CN" dirty="0"/>
              <a:t>）</a:t>
            </a:r>
          </a:p>
          <a:p>
            <a:pPr lvl="0"/>
            <a:r>
              <a:rPr lang="zh-CN" altLang="zh-CN" dirty="0"/>
              <a:t>将</a:t>
            </a:r>
            <a:r>
              <a:rPr lang="zh-CN" altLang="zh-CN" dirty="0">
                <a:solidFill>
                  <a:srgbClr val="FF0000"/>
                </a:solidFill>
              </a:rPr>
              <a:t>含有系统调用序列的文件</a:t>
            </a:r>
            <a:r>
              <a:rPr lang="zh-CN" altLang="zh-CN" dirty="0"/>
              <a:t>从虚拟机中</a:t>
            </a:r>
            <a:r>
              <a:rPr lang="en-US" altLang="zh-CN" dirty="0"/>
              <a:t>pull</a:t>
            </a:r>
            <a:r>
              <a:rPr lang="zh-CN" altLang="zh-CN" dirty="0"/>
              <a:t>进宿主机，并在虚拟机中删除</a:t>
            </a:r>
          </a:p>
          <a:p>
            <a:pPr lvl="0"/>
            <a:r>
              <a:rPr lang="zh-CN" altLang="zh-CN" dirty="0"/>
              <a:t>卸载应用，</a:t>
            </a:r>
            <a:r>
              <a:rPr lang="zh-CN" altLang="zh-CN" dirty="0">
                <a:solidFill>
                  <a:srgbClr val="FF0000"/>
                </a:solidFill>
              </a:rPr>
              <a:t>重复</a:t>
            </a:r>
            <a:r>
              <a:rPr lang="en-US" altLang="zh-CN" dirty="0"/>
              <a:t>3-6</a:t>
            </a:r>
            <a:r>
              <a:rPr lang="zh-CN" altLang="zh-CN" dirty="0"/>
              <a:t>步处理新的应用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3701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757744-5816-4869-9A30-EF67C170D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3481"/>
            <a:ext cx="5033447" cy="767207"/>
          </a:xfrm>
        </p:spPr>
        <p:txBody>
          <a:bodyPr/>
          <a:lstStyle/>
          <a:p>
            <a:r>
              <a:rPr lang="zh-CN" altLang="en-US" dirty="0"/>
              <a:t>动态分析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BE8F2F-5341-482B-8BE5-0FC0EF796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286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1CC800-5C25-4B48-BE64-00393B1CE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52865"/>
            <a:ext cx="8221274" cy="281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箭头: 下 4">
            <a:extLst>
              <a:ext uri="{FF2B5EF4-FFF2-40B4-BE49-F238E27FC236}">
                <a16:creationId xmlns:a16="http://schemas.microsoft.com/office/drawing/2014/main" id="{F6EC8385-3187-4ACD-AEA9-178E97B871E3}"/>
              </a:ext>
            </a:extLst>
          </p:cNvPr>
          <p:cNvSpPr/>
          <p:nvPr/>
        </p:nvSpPr>
        <p:spPr>
          <a:xfrm>
            <a:off x="4401690" y="4898068"/>
            <a:ext cx="433633" cy="6080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A8244F-92EB-49AE-A485-35247F855B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086"/>
          <a:stretch/>
        </p:blipFill>
        <p:spPr>
          <a:xfrm>
            <a:off x="4320860" y="5633336"/>
            <a:ext cx="1255954" cy="110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777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B13523-A669-4F3B-ABC0-8611B1AFE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Embedding </a:t>
            </a:r>
            <a:r>
              <a:rPr lang="en-US" altLang="zh-CN" dirty="0" err="1"/>
              <a:t>ConvNet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F66128-9BF9-4053-8ECA-00E4BD123D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10"/>
          <a:stretch/>
        </p:blipFill>
        <p:spPr>
          <a:xfrm>
            <a:off x="98898" y="1988319"/>
            <a:ext cx="11811587" cy="2087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8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FD9DB-4CF1-48BB-B786-7131EB0B8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数据准备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E8E7AF-8CD3-4720-915A-B4AC7BC6C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恶意应用数据集：</a:t>
            </a:r>
            <a:r>
              <a:rPr lang="en-US" altLang="zh-CN" dirty="0" err="1"/>
              <a:t>MalDozer</a:t>
            </a:r>
            <a:r>
              <a:rPr lang="zh-CN" altLang="zh-CN" dirty="0"/>
              <a:t>（共</a:t>
            </a:r>
            <a:r>
              <a:rPr lang="en-US" altLang="zh-CN" dirty="0"/>
              <a:t>20097</a:t>
            </a:r>
            <a:r>
              <a:rPr lang="zh-CN" altLang="zh-CN" dirty="0"/>
              <a:t>个，</a:t>
            </a:r>
            <a:r>
              <a:rPr lang="zh-CN" altLang="en-US" dirty="0"/>
              <a:t>动态分析</a:t>
            </a:r>
            <a:r>
              <a:rPr lang="zh-CN" altLang="zh-CN" dirty="0"/>
              <a:t>处理了其中</a:t>
            </a:r>
            <a:r>
              <a:rPr lang="en-US" altLang="zh-CN" dirty="0"/>
              <a:t>2148</a:t>
            </a:r>
            <a:r>
              <a:rPr lang="zh-CN" altLang="zh-CN" dirty="0"/>
              <a:t>个</a:t>
            </a:r>
            <a:r>
              <a:rPr lang="zh-CN" altLang="en-US" dirty="0"/>
              <a:t>，存在静态处理过的数据集</a:t>
            </a:r>
            <a:r>
              <a:rPr lang="zh-CN" altLang="zh-CN" dirty="0"/>
              <a:t>）</a:t>
            </a:r>
          </a:p>
          <a:p>
            <a:r>
              <a:rPr lang="zh-CN" altLang="zh-CN" dirty="0"/>
              <a:t>良性应用数据集：</a:t>
            </a:r>
            <a:r>
              <a:rPr lang="en-US" altLang="zh-CN" dirty="0"/>
              <a:t>CICAndMal2017</a:t>
            </a:r>
            <a:r>
              <a:rPr lang="zh-CN" altLang="zh-CN" dirty="0"/>
              <a:t>（共</a:t>
            </a:r>
            <a:r>
              <a:rPr lang="en-US" altLang="zh-CN" dirty="0"/>
              <a:t>1168</a:t>
            </a:r>
            <a:r>
              <a:rPr lang="zh-CN" altLang="zh-CN" dirty="0"/>
              <a:t>个，</a:t>
            </a:r>
            <a:r>
              <a:rPr lang="zh-CN" altLang="en-US" dirty="0"/>
              <a:t>动态分析处理了</a:t>
            </a:r>
            <a:r>
              <a:rPr lang="en-US" altLang="zh-CN" dirty="0"/>
              <a:t>1077</a:t>
            </a:r>
            <a:r>
              <a:rPr lang="zh-CN" altLang="en-US" dirty="0"/>
              <a:t>个，静态分析处理了</a:t>
            </a:r>
            <a:r>
              <a:rPr lang="en-US" altLang="zh-CN" dirty="0"/>
              <a:t>1150</a:t>
            </a:r>
            <a:r>
              <a:rPr lang="zh-CN" altLang="en-US" dirty="0"/>
              <a:t>个</a:t>
            </a:r>
            <a:r>
              <a:rPr lang="zh-CN" altLang="zh-CN" dirty="0"/>
              <a:t>）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0413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8FE36-63C1-4BB3-B78A-6D2BB1F00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5D429B-6105-497F-A70D-9393A45A8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研究问题：编码对准确率的影响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C7CE92E-CADB-4451-9BDD-E9117269C3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64"/>
          <a:stretch/>
        </p:blipFill>
        <p:spPr>
          <a:xfrm>
            <a:off x="1296950" y="3252247"/>
            <a:ext cx="4276534" cy="305965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4BB918B-0FB2-47ED-8B9F-9F8DBBB41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7186" y="3072050"/>
            <a:ext cx="4496585" cy="315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903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08FE36-63C1-4BB3-B78A-6D2BB1F00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5D429B-6105-497F-A70D-9393A45A8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研究问题：</a:t>
            </a:r>
            <a:r>
              <a:rPr lang="en-US" altLang="zh-CN" dirty="0" err="1"/>
              <a:t>SystemCall</a:t>
            </a:r>
            <a:r>
              <a:rPr lang="zh-CN" altLang="en-US" dirty="0"/>
              <a:t>与</a:t>
            </a:r>
            <a:r>
              <a:rPr lang="en-US" altLang="zh-CN" dirty="0"/>
              <a:t>API </a:t>
            </a:r>
            <a:r>
              <a:rPr lang="zh-CN" altLang="en-US" dirty="0"/>
              <a:t>序列分别对准确率的影响</a:t>
            </a:r>
            <a:endParaRPr lang="en-US" altLang="zh-CN" dirty="0"/>
          </a:p>
          <a:p>
            <a:pPr lvl="1"/>
            <a:r>
              <a:rPr lang="zh-CN" altLang="en-US" dirty="0"/>
              <a:t>波动是因为</a:t>
            </a:r>
            <a:r>
              <a:rPr lang="zh-CN" altLang="en-US" dirty="0">
                <a:solidFill>
                  <a:srgbClr val="FF0000"/>
                </a:solidFill>
              </a:rPr>
              <a:t>样本数量较少</a:t>
            </a:r>
            <a:r>
              <a:rPr lang="zh-CN" altLang="en-US" dirty="0"/>
              <a:t>，为了抑制过拟合，采用了</a:t>
            </a:r>
            <a:r>
              <a:rPr lang="zh-CN" altLang="en-US" dirty="0">
                <a:solidFill>
                  <a:srgbClr val="FF0000"/>
                </a:solidFill>
              </a:rPr>
              <a:t>比较强的正则化</a:t>
            </a:r>
            <a:r>
              <a:rPr lang="zh-CN" altLang="en-US" dirty="0"/>
              <a:t>手段的原因</a:t>
            </a:r>
          </a:p>
          <a:p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F9BEA4-9637-4CF9-9496-CCC9B6506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94" y="3164445"/>
            <a:ext cx="3993226" cy="301016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3946A43-9A88-4947-A38C-A62768C0E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500" y="3026182"/>
            <a:ext cx="4275190" cy="31701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B63BEDD-5DEF-4B4F-BA56-8F0F63B9B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368" y="3164445"/>
            <a:ext cx="4252328" cy="303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352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3FDAAC-1A57-4D50-A640-1B85A3AFC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272"/>
            <a:ext cx="10515600" cy="1325563"/>
          </a:xfrm>
        </p:spPr>
        <p:txBody>
          <a:bodyPr/>
          <a:lstStyle/>
          <a:p>
            <a:r>
              <a:rPr lang="zh-CN" altLang="en-US" dirty="0"/>
              <a:t>实验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74E9A8-79D5-422B-B22A-31F361584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研究问题：网络结构对准确率的影响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551BDD-6519-47FA-AB8B-387C5C461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15" y="3271101"/>
            <a:ext cx="4966348" cy="30407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E0ACBCE-38FF-4137-BA83-D4AC5CA3C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778" y="3271101"/>
            <a:ext cx="4565411" cy="304079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0892000-3309-4C21-A77D-954B54C301BA}"/>
              </a:ext>
            </a:extLst>
          </p:cNvPr>
          <p:cNvSpPr txBox="1"/>
          <p:nvPr/>
        </p:nvSpPr>
        <p:spPr>
          <a:xfrm>
            <a:off x="2809188" y="6366268"/>
            <a:ext cx="2281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CNN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8237EB-4B30-4450-A73D-A8E4D6354313}"/>
              </a:ext>
            </a:extLst>
          </p:cNvPr>
          <p:cNvSpPr txBox="1"/>
          <p:nvPr/>
        </p:nvSpPr>
        <p:spPr>
          <a:xfrm>
            <a:off x="7967221" y="6360016"/>
            <a:ext cx="2281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LSTM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0724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1F49C8-E71F-4065-A859-7C743541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75D54C-AE1D-4082-9994-1D6C4D400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利用</a:t>
            </a:r>
            <a:r>
              <a:rPr lang="zh-CN" altLang="en-US" dirty="0">
                <a:solidFill>
                  <a:srgbClr val="FF0000"/>
                </a:solidFill>
              </a:rPr>
              <a:t>动态分析</a:t>
            </a:r>
            <a:r>
              <a:rPr lang="zh-CN" altLang="en-US" dirty="0"/>
              <a:t>获取的系统调用序列与</a:t>
            </a:r>
            <a:r>
              <a:rPr lang="zh-CN" altLang="en-US" dirty="0">
                <a:solidFill>
                  <a:srgbClr val="FF0000"/>
                </a:solidFill>
              </a:rPr>
              <a:t>静态分析</a:t>
            </a:r>
            <a:r>
              <a:rPr lang="zh-CN" altLang="en-US" dirty="0"/>
              <a:t>的获取的</a:t>
            </a:r>
            <a:r>
              <a:rPr lang="en-US" altLang="zh-CN" dirty="0" err="1"/>
              <a:t>api</a:t>
            </a:r>
            <a:r>
              <a:rPr lang="zh-CN" altLang="en-US" dirty="0"/>
              <a:t>序列</a:t>
            </a:r>
            <a:r>
              <a:rPr lang="zh-CN" altLang="en-US" dirty="0">
                <a:solidFill>
                  <a:srgbClr val="FF0000"/>
                </a:solidFill>
              </a:rPr>
              <a:t>结合</a:t>
            </a:r>
            <a:r>
              <a:rPr lang="zh-CN" altLang="en-US" dirty="0"/>
              <a:t>检测安卓应用程序，提高了检测恶意软件的准确率，同时</a:t>
            </a:r>
            <a:r>
              <a:rPr lang="en-US" altLang="zh-CN" dirty="0">
                <a:solidFill>
                  <a:srgbClr val="FF0000"/>
                </a:solidFill>
              </a:rPr>
              <a:t>embedding</a:t>
            </a:r>
            <a:r>
              <a:rPr lang="zh-CN" altLang="en-US" dirty="0">
                <a:solidFill>
                  <a:srgbClr val="FF0000"/>
                </a:solidFill>
              </a:rPr>
              <a:t>操作和</a:t>
            </a:r>
            <a:r>
              <a:rPr lang="en-US" altLang="zh-CN" dirty="0">
                <a:solidFill>
                  <a:srgbClr val="FF0000"/>
                </a:solidFill>
              </a:rPr>
              <a:t>CNN</a:t>
            </a:r>
            <a:r>
              <a:rPr lang="zh-CN" altLang="en-US" dirty="0">
                <a:solidFill>
                  <a:srgbClr val="FF0000"/>
                </a:solidFill>
              </a:rPr>
              <a:t>网络</a:t>
            </a:r>
            <a:r>
              <a:rPr lang="zh-CN" altLang="en-US" dirty="0"/>
              <a:t>的使用，也使得整体的准确率提高。</a:t>
            </a:r>
            <a:endParaRPr lang="en-US" altLang="zh-CN" dirty="0"/>
          </a:p>
          <a:p>
            <a:r>
              <a:rPr lang="zh-CN" altLang="en-US" dirty="0"/>
              <a:t>之后工作方向</a:t>
            </a:r>
            <a:endParaRPr lang="en-US" altLang="zh-CN" dirty="0"/>
          </a:p>
          <a:p>
            <a:pPr lvl="1"/>
            <a:r>
              <a:rPr lang="zh-CN" altLang="en-US" dirty="0"/>
              <a:t>采用更为</a:t>
            </a:r>
            <a:r>
              <a:rPr lang="zh-CN" altLang="en-US" dirty="0">
                <a:solidFill>
                  <a:srgbClr val="FF0000"/>
                </a:solidFill>
              </a:rPr>
              <a:t>有效</a:t>
            </a:r>
            <a:r>
              <a:rPr lang="zh-CN" altLang="en-US" dirty="0"/>
              <a:t>的方式结合动态分析与静态分析中所得到的序列</a:t>
            </a:r>
            <a:endParaRPr lang="en-US" altLang="zh-CN" dirty="0"/>
          </a:p>
          <a:p>
            <a:pPr lvl="1"/>
            <a:r>
              <a:rPr lang="zh-CN" altLang="en-US" dirty="0"/>
              <a:t>实现</a:t>
            </a:r>
            <a:r>
              <a:rPr lang="zh-CN" altLang="en-US" dirty="0">
                <a:solidFill>
                  <a:srgbClr val="FF0000"/>
                </a:solidFill>
              </a:rPr>
              <a:t>多分类</a:t>
            </a:r>
            <a:r>
              <a:rPr lang="zh-CN" altLang="en-US" dirty="0"/>
              <a:t>的输出，可以区分出恶意软件的具体种类。</a:t>
            </a:r>
          </a:p>
        </p:txBody>
      </p:sp>
    </p:spTree>
    <p:extLst>
      <p:ext uri="{BB962C8B-B14F-4D97-AF65-F5344CB8AC3E}">
        <p14:creationId xmlns:p14="http://schemas.microsoft.com/office/powerpoint/2010/main" val="226465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A36700-6D22-4A45-9069-D1CAB4797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Thank you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286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717</Words>
  <Application>Microsoft Office PowerPoint</Application>
  <PresentationFormat>宽屏</PresentationFormat>
  <Paragraphs>83</Paragraphs>
  <Slides>18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等线</vt:lpstr>
      <vt:lpstr>等线 Light</vt:lpstr>
      <vt:lpstr>Arial</vt:lpstr>
      <vt:lpstr>Office 主题​​</vt:lpstr>
      <vt:lpstr>Deep Android Malware Detection</vt:lpstr>
      <vt:lpstr>目标</vt:lpstr>
      <vt:lpstr>相关工作</vt:lpstr>
      <vt:lpstr>我们的工作</vt:lpstr>
      <vt:lpstr>项目概述</vt:lpstr>
      <vt:lpstr>小组分工</vt:lpstr>
      <vt:lpstr>静态分析</vt:lpstr>
      <vt:lpstr>静态分析</vt:lpstr>
      <vt:lpstr>动态分析</vt:lpstr>
      <vt:lpstr>动态分析</vt:lpstr>
      <vt:lpstr>动态分析</vt:lpstr>
      <vt:lpstr>Embedding ConvNet</vt:lpstr>
      <vt:lpstr>数据准备</vt:lpstr>
      <vt:lpstr>实验</vt:lpstr>
      <vt:lpstr>实验</vt:lpstr>
      <vt:lpstr>实验</vt:lpstr>
      <vt:lpstr>结论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Android Malware Classification via System Call Sequence</dc:title>
  <dc:creator>jia xiaoyu</dc:creator>
  <cp:lastModifiedBy>jia xiaoyu</cp:lastModifiedBy>
  <cp:revision>76</cp:revision>
  <dcterms:created xsi:type="dcterms:W3CDTF">2019-12-22T08:21:35Z</dcterms:created>
  <dcterms:modified xsi:type="dcterms:W3CDTF">2019-12-23T13:35:05Z</dcterms:modified>
</cp:coreProperties>
</file>