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8" r:id="rId4"/>
    <p:sldId id="257" r:id="rId5"/>
    <p:sldId id="260" r:id="rId6"/>
    <p:sldId id="261" r:id="rId7"/>
    <p:sldId id="259" r:id="rId8"/>
    <p:sldId id="267" r:id="rId9"/>
    <p:sldId id="268" r:id="rId10"/>
    <p:sldId id="269" r:id="rId11"/>
    <p:sldId id="270" r:id="rId12"/>
    <p:sldId id="271" r:id="rId13"/>
    <p:sldId id="272" r:id="rId14"/>
    <p:sldId id="262" r:id="rId15"/>
    <p:sldId id="264" r:id="rId16"/>
    <p:sldId id="273" r:id="rId17"/>
    <p:sldId id="274" r:id="rId18"/>
    <p:sldId id="275" r:id="rId19"/>
    <p:sldId id="276" r:id="rId20"/>
    <p:sldId id="266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64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20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7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5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25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47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02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23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39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66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88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49F6F-FF9B-4C2A-AD15-043DCB6C6D13}" type="datetimeFigureOut">
              <a:rPr lang="zh-CN" altLang="en-US" smtClean="0"/>
              <a:t>2019/12/16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52BA0-C8E6-4C85-8A97-B1B6A33415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3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072485"/>
            <a:ext cx="7772400" cy="1221826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Wuji</a:t>
            </a:r>
            <a:r>
              <a:rPr lang="en-US" altLang="zh-CN" sz="2800" dirty="0"/>
              <a:t>: Automatic Online Combat Game Testing Using Evolutionary Deep Reinforcement Learning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52728" y="4993451"/>
            <a:ext cx="6858000" cy="2058930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小组成员</a:t>
            </a:r>
            <a:endParaRPr lang="en-US" altLang="zh-CN" sz="1800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r>
              <a:rPr lang="en-US" altLang="zh-CN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DZ1933008  </a:t>
            </a:r>
            <a:r>
              <a:rPr lang="zh-CN" altLang="en-US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郭迎港</a:t>
            </a:r>
            <a:r>
              <a:rPr lang="en-US" altLang="zh-CN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      MF1933040  </a:t>
            </a:r>
            <a:r>
              <a:rPr lang="zh-CN" altLang="en-US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贾晓玉</a:t>
            </a:r>
            <a:endParaRPr lang="en-US" altLang="zh-CN" sz="1800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  <a:p>
            <a:r>
              <a:rPr lang="en-US" altLang="zh-CN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MG1933060 </a:t>
            </a:r>
            <a:r>
              <a:rPr lang="zh-CN" altLang="en-US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王文</a:t>
            </a:r>
            <a:r>
              <a:rPr lang="en-US" altLang="zh-CN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          MG1933088  </a:t>
            </a:r>
            <a:r>
              <a:rPr lang="zh-CN" altLang="en-US" sz="18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袁佳莉</a:t>
            </a:r>
            <a:endParaRPr lang="en-US" altLang="zh-CN" sz="1800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4" name="AutoShape 2" descr="https://lh3.googleusercontent.com/LeJw23ZCNEO8MA0HhWCgxZHoTp26pNNDmL6O9dxdIAu5O5Yz8oEn56Xc31wfMWAqRgN0cQq2Vw=w37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349737" y="2603710"/>
            <a:ext cx="6444526" cy="1820487"/>
            <a:chOff x="1143000" y="4563687"/>
            <a:chExt cx="6444526" cy="182048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0" y="4563687"/>
              <a:ext cx="1820487" cy="182048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6232" y="4565548"/>
              <a:ext cx="1818626" cy="181862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7603" y="4563687"/>
              <a:ext cx="1819923" cy="1819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681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Game and Game Testing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Game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[Global Games Market Report]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zh-CN" dirty="0"/>
              <a:t>More than </a:t>
            </a:r>
            <a:r>
              <a:rPr lang="en-US" altLang="zh-CN" b="1" dirty="0"/>
              <a:t>2.3 billion </a:t>
            </a:r>
            <a:r>
              <a:rPr lang="en-US" altLang="zh-CN" dirty="0"/>
              <a:t>active gamers</a:t>
            </a:r>
          </a:p>
          <a:p>
            <a:pPr lvl="1"/>
            <a:r>
              <a:rPr lang="en-US" altLang="zh-CN" b="1" dirty="0"/>
              <a:t>46%</a:t>
            </a:r>
            <a:r>
              <a:rPr lang="en-US" altLang="zh-CN" dirty="0"/>
              <a:t> spend money on games</a:t>
            </a:r>
          </a:p>
          <a:p>
            <a:pPr lvl="1"/>
            <a:r>
              <a:rPr lang="en-US" altLang="zh-CN" dirty="0"/>
              <a:t>Reaches around </a:t>
            </a:r>
            <a:r>
              <a:rPr lang="en-US" altLang="zh-CN" b="1" dirty="0"/>
              <a:t>$138 billion </a:t>
            </a:r>
            <a:r>
              <a:rPr lang="en-US" altLang="zh-CN" dirty="0"/>
              <a:t>in 2018</a:t>
            </a:r>
          </a:p>
          <a:p>
            <a:r>
              <a:rPr lang="en-US" altLang="zh-CN" dirty="0"/>
              <a:t>Game testing</a:t>
            </a:r>
          </a:p>
          <a:p>
            <a:pPr lvl="1"/>
            <a:r>
              <a:rPr lang="en-US" altLang="zh-CN" dirty="0"/>
              <a:t>Ad-hoc manual testing</a:t>
            </a:r>
          </a:p>
          <a:p>
            <a:pPr lvl="1"/>
            <a:r>
              <a:rPr lang="en-US" altLang="zh-CN" b="1" dirty="0"/>
              <a:t>30 testers </a:t>
            </a:r>
            <a:r>
              <a:rPr lang="en-US" altLang="zh-CN" dirty="0"/>
              <a:t>for testing even one game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</a:rPr>
              <a:t>Netease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  <a:p>
            <a:pPr lvl="1"/>
            <a:r>
              <a:rPr lang="en-US" altLang="zh-CN" b="1" dirty="0"/>
              <a:t>$2 million </a:t>
            </a:r>
            <a:r>
              <a:rPr lang="en-US" altLang="zh-CN" dirty="0"/>
              <a:t>loss caused by the bugs every year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985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Automatic Testing Techniques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Game &lt;-&gt; graphical user interfaces (GUIs)</a:t>
            </a:r>
          </a:p>
          <a:p>
            <a:pPr lvl="1"/>
            <a:r>
              <a:rPr lang="en-US" altLang="zh-CN" dirty="0"/>
              <a:t>Random-based testing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[Monkey]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zh-CN" dirty="0"/>
              <a:t>Model-based testing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[Stoat]</a:t>
            </a:r>
          </a:p>
        </p:txBody>
      </p:sp>
      <p:sp>
        <p:nvSpPr>
          <p:cNvPr id="5" name="爆炸形 1 4"/>
          <p:cNvSpPr/>
          <p:nvPr/>
        </p:nvSpPr>
        <p:spPr>
          <a:xfrm>
            <a:off x="1030778" y="3208715"/>
            <a:ext cx="7368194" cy="2286000"/>
          </a:xfrm>
          <a:prstGeom prst="irregularSeal1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00"/>
                </a:solidFill>
              </a:rPr>
              <a:t>Not effective in game testing since they are not “smart” to accomplish the complicated goal of the game</a:t>
            </a:r>
          </a:p>
        </p:txBody>
      </p:sp>
      <p:sp>
        <p:nvSpPr>
          <p:cNvPr id="7" name="直角上箭头 6"/>
          <p:cNvSpPr/>
          <p:nvPr/>
        </p:nvSpPr>
        <p:spPr>
          <a:xfrm rot="5400000">
            <a:off x="4588625" y="5258104"/>
            <a:ext cx="1047404" cy="964276"/>
          </a:xfrm>
          <a:prstGeom prst="ben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184669" y="5777345"/>
            <a:ext cx="2427316" cy="5735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 Reinforcement Learning (DRL)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395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Insights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Exploring game space</a:t>
            </a:r>
          </a:p>
          <a:p>
            <a:pPr lvl="1"/>
            <a:r>
              <a:rPr lang="en-US" altLang="zh-CN" dirty="0"/>
              <a:t>Evolutionary algorithms (EA)</a:t>
            </a:r>
          </a:p>
          <a:p>
            <a:r>
              <a:rPr lang="en-US" altLang="zh-CN" dirty="0"/>
              <a:t>Accomplishing the mission</a:t>
            </a:r>
          </a:p>
          <a:p>
            <a:pPr lvl="1"/>
            <a:r>
              <a:rPr lang="en-US" altLang="zh-CN" dirty="0"/>
              <a:t>Deep reinforcement learning (DRL)</a:t>
            </a:r>
          </a:p>
          <a:p>
            <a:pPr marL="228600" lvl="1">
              <a:spcBef>
                <a:spcPts val="1000"/>
              </a:spcBef>
            </a:pPr>
            <a:r>
              <a:rPr lang="en-US" altLang="zh-CN" dirty="0"/>
              <a:t>Multi-objective optimization (MOO)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616" y="3232013"/>
            <a:ext cx="2723500" cy="272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1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Study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 OCMs, 1349 bugs, 10 million peak players</a:t>
            </a:r>
          </a:p>
          <a:p>
            <a:r>
              <a:rPr lang="en-US" altLang="zh-CN" dirty="0"/>
              <a:t>Categorize into 5 different types</a:t>
            </a:r>
          </a:p>
          <a:p>
            <a:pPr lvl="1"/>
            <a:r>
              <a:rPr lang="en-US" altLang="zh-CN" sz="2000" dirty="0"/>
              <a:t>Crash bugs</a:t>
            </a:r>
          </a:p>
          <a:p>
            <a:pPr lvl="1"/>
            <a:r>
              <a:rPr lang="en-US" altLang="zh-CN" sz="2000" dirty="0"/>
              <a:t>Stuck bugs</a:t>
            </a:r>
          </a:p>
          <a:p>
            <a:pPr lvl="1"/>
            <a:r>
              <a:rPr lang="en-US" altLang="zh-CN" sz="2000" dirty="0"/>
              <a:t>Logical bugs</a:t>
            </a:r>
          </a:p>
          <a:p>
            <a:pPr lvl="1"/>
            <a:r>
              <a:rPr lang="en-US" altLang="zh-CN" sz="2000" dirty="0"/>
              <a:t>Gaming balance bugs</a:t>
            </a:r>
          </a:p>
          <a:p>
            <a:pPr lvl="1"/>
            <a:r>
              <a:rPr lang="en-US" altLang="zh-CN" sz="2000" dirty="0"/>
              <a:t>User experience bugs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286509"/>
            <a:ext cx="44291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3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Oracles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Crash</a:t>
            </a:r>
          </a:p>
          <a:p>
            <a:pPr lvl="1"/>
            <a:r>
              <a:rPr lang="en-US" altLang="zh-CN" dirty="0"/>
              <a:t>Game process is </a:t>
            </a:r>
            <a:r>
              <a:rPr lang="en-US" altLang="zh-CN" b="1" dirty="0">
                <a:solidFill>
                  <a:schemeClr val="accent5"/>
                </a:solidFill>
              </a:rPr>
              <a:t>terminated</a:t>
            </a:r>
          </a:p>
          <a:p>
            <a:r>
              <a:rPr lang="en-US" altLang="zh-CN" dirty="0"/>
              <a:t>Stuck</a:t>
            </a:r>
          </a:p>
          <a:p>
            <a:pPr lvl="1"/>
            <a:r>
              <a:rPr lang="en-US" altLang="zh-CN" dirty="0"/>
              <a:t>Monitoring the </a:t>
            </a:r>
            <a:r>
              <a:rPr lang="en-US" altLang="zh-CN" b="1" dirty="0">
                <a:solidFill>
                  <a:schemeClr val="accent5"/>
                </a:solidFill>
              </a:rPr>
              <a:t>states</a:t>
            </a:r>
            <a:r>
              <a:rPr lang="en-US" altLang="zh-CN" dirty="0"/>
              <a:t> of the game</a:t>
            </a:r>
          </a:p>
          <a:p>
            <a:r>
              <a:rPr lang="en-US" altLang="zh-CN" dirty="0"/>
              <a:t>Logical</a:t>
            </a:r>
          </a:p>
          <a:p>
            <a:pPr lvl="1"/>
            <a:r>
              <a:rPr lang="en-US" altLang="zh-CN" dirty="0"/>
              <a:t>Specific </a:t>
            </a:r>
            <a:r>
              <a:rPr lang="en-US" altLang="zh-CN" b="1" dirty="0">
                <a:solidFill>
                  <a:schemeClr val="accent5"/>
                </a:solidFill>
              </a:rPr>
              <a:t>assertions</a:t>
            </a:r>
          </a:p>
          <a:p>
            <a:r>
              <a:rPr lang="en-US" altLang="zh-CN" dirty="0"/>
              <a:t>Gaming Balance</a:t>
            </a:r>
          </a:p>
          <a:p>
            <a:pPr lvl="1"/>
            <a:r>
              <a:rPr lang="en-US" altLang="zh-CN" dirty="0"/>
              <a:t>Need the confirmation of game designers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Not consider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243" y="365126"/>
            <a:ext cx="44291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4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90689"/>
            <a:ext cx="4905375" cy="1209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3340504"/>
            <a:ext cx="4886325" cy="1390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8650" y="2936653"/>
            <a:ext cx="100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Rewards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5234247"/>
            <a:ext cx="49053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91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90689"/>
            <a:ext cx="4905375" cy="1209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277081"/>
            <a:ext cx="4924425" cy="733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387223"/>
            <a:ext cx="4953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7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22" y="2023198"/>
            <a:ext cx="5705475" cy="29337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37885" y="5272639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57355" y="2660073"/>
            <a:ext cx="1496291" cy="123028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68141" y="3892799"/>
            <a:ext cx="1828800" cy="70414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26484" y="2685011"/>
            <a:ext cx="1140313" cy="947651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5349807" y="4674267"/>
            <a:ext cx="3165543" cy="665018"/>
          </a:xfrm>
          <a:prstGeom prst="wedgeRoundRectCallout">
            <a:avLst>
              <a:gd name="adj1" fmla="val 8053"/>
              <a:gd name="adj2" fmla="val -103750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dvantage actor-critic (A2C)</a:t>
            </a:r>
          </a:p>
        </p:txBody>
      </p:sp>
    </p:spTree>
    <p:extLst>
      <p:ext uri="{BB962C8B-B14F-4D97-AF65-F5344CB8AC3E}">
        <p14:creationId xmlns:p14="http://schemas.microsoft.com/office/powerpoint/2010/main" val="87337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Objectives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Exploration score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Wining score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734749"/>
            <a:ext cx="3700638" cy="19028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116" y="2306955"/>
            <a:ext cx="3506990" cy="9682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027" y="3912999"/>
            <a:ext cx="3431726" cy="98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06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Crossover and Mutation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734749"/>
            <a:ext cx="3700638" cy="190283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1" y="1753985"/>
            <a:ext cx="4506373" cy="38238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278" y="3424269"/>
            <a:ext cx="49530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8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Population Selection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734749"/>
            <a:ext cx="3700638" cy="19028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428" y="1464256"/>
            <a:ext cx="2990850" cy="2809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705769"/>
            <a:ext cx="49244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1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Population Selection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734749"/>
            <a:ext cx="3700638" cy="19028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428" y="1464256"/>
            <a:ext cx="2990850" cy="2809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01154"/>
            <a:ext cx="3528808" cy="2500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232" y="4041341"/>
            <a:ext cx="2742600" cy="219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94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Research Questions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dirty="0"/>
              <a:t>RQ1 (Bug Detection): </a:t>
            </a:r>
            <a:r>
              <a:rPr lang="en-US" altLang="zh-CN" sz="2400" dirty="0"/>
              <a:t>How effective is </a:t>
            </a:r>
            <a:r>
              <a:rPr lang="en-US" altLang="zh-CN" sz="2400" dirty="0" err="1"/>
              <a:t>Wuji</a:t>
            </a:r>
            <a:r>
              <a:rPr lang="en-US" altLang="zh-CN" sz="2400" dirty="0"/>
              <a:t> in detecting game bugs? How do the key components of </a:t>
            </a:r>
            <a:r>
              <a:rPr lang="en-US" altLang="zh-CN" sz="2400" dirty="0" err="1"/>
              <a:t>Wuji</a:t>
            </a:r>
            <a:r>
              <a:rPr lang="en-US" altLang="zh-CN" sz="2400" dirty="0"/>
              <a:t>, i.e., EA, DRL and MOO, affect the performance when functioning separately?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dirty="0"/>
              <a:t>RQ2 (Coverage): </a:t>
            </a:r>
            <a:r>
              <a:rPr lang="en-US" altLang="zh-CN" sz="2400" dirty="0"/>
              <a:t>How is the exploration capability of </a:t>
            </a:r>
            <a:r>
              <a:rPr lang="en-US" altLang="zh-CN" sz="2400" dirty="0" err="1"/>
              <a:t>Wuji</a:t>
            </a:r>
            <a:r>
              <a:rPr lang="en-US" altLang="zh-CN" sz="2400" dirty="0"/>
              <a:t> in terms of code coverage and state coverage?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dirty="0"/>
              <a:t>RQ3 (Bug Analysis): </a:t>
            </a:r>
            <a:r>
              <a:rPr lang="en-US" altLang="zh-CN" sz="2400" dirty="0"/>
              <a:t>What are the root cause and characteristics of those bugs found by </a:t>
            </a:r>
            <a:r>
              <a:rPr lang="en-US" altLang="zh-CN" sz="2400" dirty="0" err="1"/>
              <a:t>Wuji</a:t>
            </a:r>
            <a:r>
              <a:rPr lang="en-US" altLang="zh-CN" sz="2400" dirty="0"/>
              <a:t>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531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Datasets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349737" y="1885460"/>
            <a:ext cx="6444526" cy="1820487"/>
            <a:chOff x="1143000" y="4563687"/>
            <a:chExt cx="6444526" cy="182048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0" y="4563687"/>
              <a:ext cx="1820487" cy="182048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6232" y="4565548"/>
              <a:ext cx="1818626" cy="181862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7603" y="4563687"/>
              <a:ext cx="1819923" cy="1819923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1635642" y="3716052"/>
            <a:ext cx="1248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Block Maze</a:t>
            </a:r>
          </a:p>
        </p:txBody>
      </p:sp>
      <p:sp>
        <p:nvSpPr>
          <p:cNvPr id="9" name="矩形 8"/>
          <p:cNvSpPr/>
          <p:nvPr/>
        </p:nvSpPr>
        <p:spPr>
          <a:xfrm>
            <a:off x="3535722" y="3716052"/>
            <a:ext cx="2072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Chinese Ghost Story</a:t>
            </a:r>
          </a:p>
        </p:txBody>
      </p:sp>
      <p:sp>
        <p:nvSpPr>
          <p:cNvPr id="11" name="矩形 10"/>
          <p:cNvSpPr/>
          <p:nvPr/>
        </p:nvSpPr>
        <p:spPr>
          <a:xfrm>
            <a:off x="5742882" y="3705383"/>
            <a:ext cx="2629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Treacherous Water Online</a:t>
            </a:r>
          </a:p>
        </p:txBody>
      </p:sp>
      <p:sp>
        <p:nvSpPr>
          <p:cNvPr id="12" name="矩形 11"/>
          <p:cNvSpPr/>
          <p:nvPr/>
        </p:nvSpPr>
        <p:spPr>
          <a:xfrm>
            <a:off x="221006" y="4105594"/>
            <a:ext cx="2829271" cy="147732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4 actions </a:t>
            </a:r>
            <a:r>
              <a:rPr lang="zh-CN" altLang="en-US" dirty="0"/>
              <a:t>to choose: {north, south,</a:t>
            </a:r>
            <a:r>
              <a:rPr lang="en-US" altLang="zh-CN" dirty="0"/>
              <a:t> </a:t>
            </a:r>
            <a:r>
              <a:rPr lang="zh-CN" altLang="en-US" dirty="0"/>
              <a:t>east, west}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Goal: reach the exit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Randomly injected 25 bugs (points)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4701" y="5624487"/>
            <a:ext cx="4419600" cy="122872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157363" y="4105594"/>
            <a:ext cx="2829271" cy="147732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4 </a:t>
            </a:r>
            <a:r>
              <a:rPr lang="en-US" altLang="zh-CN" b="1" dirty="0"/>
              <a:t>directions and 5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Goal: win the fighting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10 real bugs (2 crash bugs, 2 stuck bugs, and 6 logical bugs)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093720" y="4105594"/>
            <a:ext cx="2829271" cy="147732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4 </a:t>
            </a:r>
            <a:r>
              <a:rPr lang="en-US" altLang="zh-CN" b="1" dirty="0"/>
              <a:t>directions and 8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Goal: win the fighting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18 real bugs (4 crash bugs, 3 stuck bugs and 11 logical bugs)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9411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 on Bug Detection (RQ1)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322" y="4613563"/>
            <a:ext cx="8989176" cy="1878677"/>
          </a:xfrm>
        </p:spPr>
        <p:txBody>
          <a:bodyPr>
            <a:noAutofit/>
          </a:bodyPr>
          <a:lstStyle/>
          <a:p>
            <a:r>
              <a:rPr lang="en-US" altLang="zh-CN" sz="1600" b="1" dirty="0"/>
              <a:t>Random</a:t>
            </a:r>
            <a:r>
              <a:rPr lang="en-US" altLang="zh-CN" sz="1600" dirty="0"/>
              <a:t>: </a:t>
            </a:r>
            <a:r>
              <a:rPr lang="en-US" altLang="zh-CN" sz="1600" i="1" dirty="0">
                <a:solidFill>
                  <a:srgbClr val="FF0000"/>
                </a:solidFill>
              </a:rPr>
              <a:t>randomly</a:t>
            </a:r>
            <a:r>
              <a:rPr lang="en-US" altLang="zh-CN" sz="1600" dirty="0"/>
              <a:t> selects one of the available actions</a:t>
            </a:r>
          </a:p>
          <a:p>
            <a:r>
              <a:rPr lang="en-US" altLang="zh-CN" sz="1600" b="1" dirty="0"/>
              <a:t>EA_S</a:t>
            </a:r>
            <a:r>
              <a:rPr lang="en-US" altLang="zh-CN" sz="1600" dirty="0"/>
              <a:t>: the evolutionary algorithm based strategy whose fitness score only considers the </a:t>
            </a:r>
            <a:r>
              <a:rPr lang="en-US" altLang="zh-CN" sz="1600" i="1" dirty="0">
                <a:solidFill>
                  <a:srgbClr val="FF0000"/>
                </a:solidFill>
              </a:rPr>
              <a:t>winning score</a:t>
            </a:r>
          </a:p>
          <a:p>
            <a:r>
              <a:rPr lang="en-US" altLang="zh-CN" sz="1600" b="1" dirty="0"/>
              <a:t>EA_M</a:t>
            </a:r>
            <a:r>
              <a:rPr lang="en-US" altLang="zh-CN" sz="1600" dirty="0"/>
              <a:t>: the evolutionary algorithm based strategy that uses a </a:t>
            </a:r>
            <a:r>
              <a:rPr lang="en-US" altLang="zh-CN" sz="1600" i="1" dirty="0">
                <a:solidFill>
                  <a:srgbClr val="FF0000"/>
                </a:solidFill>
              </a:rPr>
              <a:t>MOO-based fitness score</a:t>
            </a:r>
          </a:p>
          <a:p>
            <a:r>
              <a:rPr lang="en-US" altLang="zh-CN" sz="1600" b="1" dirty="0"/>
              <a:t>DRL</a:t>
            </a:r>
            <a:r>
              <a:rPr lang="en-US" altLang="zh-CN" sz="1600" dirty="0"/>
              <a:t>: test the games by only considering the </a:t>
            </a:r>
            <a:r>
              <a:rPr lang="en-US" altLang="zh-CN" sz="1600" i="1" dirty="0">
                <a:solidFill>
                  <a:srgbClr val="FF0000"/>
                </a:solidFill>
              </a:rPr>
              <a:t>winning score with DRL</a:t>
            </a:r>
          </a:p>
          <a:p>
            <a:r>
              <a:rPr lang="en-US" altLang="zh-CN" sz="1600" b="1" dirty="0"/>
              <a:t>EA_S+DRL</a:t>
            </a:r>
            <a:r>
              <a:rPr lang="en-US" altLang="zh-CN" sz="1600" dirty="0"/>
              <a:t>: the combination of EA and </a:t>
            </a:r>
            <a:r>
              <a:rPr lang="en-US" altLang="zh-CN" sz="1600" i="1" dirty="0">
                <a:solidFill>
                  <a:srgbClr val="FF0000"/>
                </a:solidFill>
              </a:rPr>
              <a:t>DRL</a:t>
            </a:r>
            <a:r>
              <a:rPr lang="en-US" altLang="zh-CN" sz="1600" dirty="0"/>
              <a:t> but they only consider the </a:t>
            </a:r>
            <a:r>
              <a:rPr lang="en-US" altLang="zh-CN" sz="1600" i="1" dirty="0">
                <a:solidFill>
                  <a:srgbClr val="FF0000"/>
                </a:solidFill>
              </a:rPr>
              <a:t>winning score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79" y="2057315"/>
            <a:ext cx="8243041" cy="238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6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Evaluation on Coverage Increase (RQ2)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552167"/>
            <a:ext cx="7886700" cy="1624795"/>
          </a:xfrm>
        </p:spPr>
        <p:txBody>
          <a:bodyPr/>
          <a:lstStyle/>
          <a:p>
            <a:r>
              <a:rPr lang="en-US" altLang="zh-CN" dirty="0"/>
              <a:t>More useful in detecting bugs by maximizing </a:t>
            </a:r>
            <a:r>
              <a:rPr lang="en-US" altLang="zh-CN" b="1" dirty="0">
                <a:solidFill>
                  <a:schemeClr val="accent6"/>
                </a:solidFill>
              </a:rPr>
              <a:t>state coverage</a:t>
            </a:r>
            <a:r>
              <a:rPr lang="en-US" altLang="zh-CN" dirty="0"/>
              <a:t> than </a:t>
            </a:r>
            <a:r>
              <a:rPr lang="en-US" altLang="zh-CN" b="1" dirty="0">
                <a:solidFill>
                  <a:srgbClr val="FF0000"/>
                </a:solidFill>
              </a:rPr>
              <a:t>code coverage </a:t>
            </a:r>
            <a:r>
              <a:rPr lang="en-US" altLang="zh-CN" dirty="0"/>
              <a:t>for game testing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2011766"/>
            <a:ext cx="497205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64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Bug Analysis (RQ3)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Policy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Logical bug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68" y="2398395"/>
            <a:ext cx="4914900" cy="1695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68" y="4937846"/>
            <a:ext cx="50292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4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Bug Analysis (RQ3)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Policy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Logical bug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68" y="2398395"/>
            <a:ext cx="4914900" cy="1695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68" y="4937846"/>
            <a:ext cx="5029200" cy="1304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445" y="4276292"/>
            <a:ext cx="49815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5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Wuji</a:t>
            </a:r>
            <a:endParaRPr lang="en-US" altLang="zh-CN" dirty="0"/>
          </a:p>
          <a:p>
            <a:pPr lvl="1"/>
            <a:r>
              <a:rPr lang="en-US" altLang="zh-CN" dirty="0"/>
              <a:t>Multi-object optimization (MOO)</a:t>
            </a:r>
          </a:p>
          <a:p>
            <a:pPr lvl="1"/>
            <a:r>
              <a:rPr lang="en-US" altLang="zh-CN" dirty="0"/>
              <a:t>Deep reinforcement learning (DRL)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4864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3352</TotalTime>
  <Words>532</Words>
  <Application>Microsoft Macintosh PowerPoint</Application>
  <PresentationFormat>全屏显示(4:3)</PresentationFormat>
  <Paragraphs>99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DengXian Light</vt:lpstr>
      <vt:lpstr>Arial</vt:lpstr>
      <vt:lpstr>Calibri</vt:lpstr>
      <vt:lpstr>Calibri Light</vt:lpstr>
      <vt:lpstr>Office 主题​​</vt:lpstr>
      <vt:lpstr>Wuji: Automatic Online Combat Game Testing Using Evolutionary Deep Reinforcement Learning</vt:lpstr>
      <vt:lpstr>Game and Game Testing</vt:lpstr>
      <vt:lpstr>Automatic Testing Techniques</vt:lpstr>
      <vt:lpstr>Insights</vt:lpstr>
      <vt:lpstr>Empirical Study</vt:lpstr>
      <vt:lpstr>Oracles</vt:lpstr>
      <vt:lpstr>Definition</vt:lpstr>
      <vt:lpstr>Definition</vt:lpstr>
      <vt:lpstr>Workflow</vt:lpstr>
      <vt:lpstr>Multiple Objectives</vt:lpstr>
      <vt:lpstr>Crossover and Mutation</vt:lpstr>
      <vt:lpstr>Population Selection</vt:lpstr>
      <vt:lpstr>Population Selection</vt:lpstr>
      <vt:lpstr>Research Questions</vt:lpstr>
      <vt:lpstr>Datasets</vt:lpstr>
      <vt:lpstr>Evaluation on Bug Detection (RQ1)</vt:lpstr>
      <vt:lpstr>Evaluation on Coverage Increase (RQ2)</vt:lpstr>
      <vt:lpstr>Bug Analysis (RQ3)</vt:lpstr>
      <vt:lpstr>Bug Analysis (RQ3)</vt:lpstr>
      <vt:lpstr>Conclusion</vt:lpstr>
    </vt:vector>
  </TitlesOfParts>
  <Company>NJU-ICS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Wuji: Automatic Online Combat Game Testing Using Evolutionary Deep Reinforcement Learning</dc:title>
  <dc:creator>cellzero</dc:creator>
  <cp:lastModifiedBy>Microsoft Office User</cp:lastModifiedBy>
  <cp:revision>161</cp:revision>
  <dcterms:created xsi:type="dcterms:W3CDTF">2019-10-31T06:56:16Z</dcterms:created>
  <dcterms:modified xsi:type="dcterms:W3CDTF">2019-12-16T12:02:41Z</dcterms:modified>
</cp:coreProperties>
</file>