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5" r:id="rId4"/>
    <p:sldId id="271" r:id="rId5"/>
    <p:sldId id="262" r:id="rId6"/>
    <p:sldId id="258" r:id="rId7"/>
    <p:sldId id="267" r:id="rId8"/>
    <p:sldId id="259" r:id="rId9"/>
    <p:sldId id="270" r:id="rId10"/>
    <p:sldId id="268" r:id="rId11"/>
    <p:sldId id="261" r:id="rId12"/>
    <p:sldId id="264" r:id="rId13"/>
    <p:sldId id="260" r:id="rId14"/>
    <p:sldId id="263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428" autoAdjust="0"/>
  </p:normalViewPr>
  <p:slideViewPr>
    <p:cSldViewPr snapToGrid="0">
      <p:cViewPr varScale="1">
        <p:scale>
          <a:sx n="88" d="100"/>
          <a:sy n="88" d="100"/>
        </p:scale>
        <p:origin x="22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AFAA-05D3-4565-990A-8C7A096E352C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0D3F3-E999-45C5-B411-BCF2D409F3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194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1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most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traceable</a:t>
            </a:r>
            <a:r>
              <a:rPr lang="zh-CN" altLang="en-US" dirty="0"/>
              <a:t> </a:t>
            </a:r>
            <a:r>
              <a:rPr lang="en-US" altLang="zh-CN" dirty="0"/>
              <a:t>events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determining</a:t>
            </a:r>
            <a:r>
              <a:rPr lang="zh-CN" altLang="en-US" dirty="0"/>
              <a:t> </a:t>
            </a:r>
            <a:r>
              <a:rPr lang="en-US" altLang="zh-CN" dirty="0"/>
              <a:t>malware</a:t>
            </a:r>
            <a:r>
              <a:rPr lang="zh-CN" altLang="en-US" dirty="0"/>
              <a:t> </a:t>
            </a:r>
            <a:r>
              <a:rPr lang="en-US" altLang="zh-CN" dirty="0"/>
              <a:t>behavior are system calls.</a:t>
            </a:r>
          </a:p>
          <a:p>
            <a:r>
              <a:rPr lang="en-US" altLang="zh-CN" dirty="0"/>
              <a:t>In order to execute malicious actions, malware needs to use the services from the operating system.</a:t>
            </a:r>
          </a:p>
          <a:p>
            <a:r>
              <a:rPr lang="en-US" altLang="zh-CN" dirty="0"/>
              <a:t>For any meaningful action, such as opening a file, running a thread, writing to the registry, or opening a network connection, interaction with the operating system is necessary.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1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31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Hardware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GPU / TPU</a:t>
            </a:r>
          </a:p>
          <a:p>
            <a:r>
              <a:rPr lang="en-US" altLang="zh-CN" dirty="0"/>
              <a:t>Dataset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Large dataset</a:t>
            </a:r>
          </a:p>
          <a:p>
            <a:r>
              <a:rPr lang="en-US" altLang="zh-CN" dirty="0"/>
              <a:t>Algorithm: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Activation function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Weight  initialization scheme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Optimization scheme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批标准化、残差连接、深度可分离卷积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097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381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经典机器学习方法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02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并非安卓相关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733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太丑了，这页会改改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83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Dynamic analysis techniques typically run applications in a sandbox environment or on real devices in order to extract information about the application behavior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775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1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Now it’s has 216 samples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891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619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98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91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85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16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91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65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8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33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45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42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93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60014-126B-4818-BDAC-806EB8A08EE0}" type="datetimeFigureOut">
              <a:rPr lang="zh-CN" altLang="en-US" smtClean="0"/>
              <a:t>2019/11/4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2BC86-510C-483B-B26D-EF468F477A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31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weaklibrary.com/some-common-and-popular-types-of-android-mobile-malwar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zoo.morir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irustotal.com/gui/home/search" TargetMode="External"/><Relationship Id="rId4" Type="http://schemas.openxmlformats.org/officeDocument/2006/relationships/hyperlink" Target="https://github.com/ashishb/android-malwar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8D219-D1B2-4468-B21E-4AC31A4EF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Deep Android Malware Classification via System Call Sequence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B34892-0933-4664-BC7E-D1D244C1F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CN" dirty="0"/>
          </a:p>
          <a:p>
            <a:r>
              <a:rPr lang="zh-CN" altLang="en-US" dirty="0"/>
              <a:t>小组成员</a:t>
            </a:r>
            <a:endParaRPr lang="en-US" altLang="zh-CN" dirty="0"/>
          </a:p>
          <a:p>
            <a:r>
              <a:rPr lang="en-US" altLang="zh-CN" dirty="0"/>
              <a:t>DZ1933008  </a:t>
            </a:r>
            <a:r>
              <a:rPr lang="zh-CN" altLang="en-US" dirty="0"/>
              <a:t>郭迎港</a:t>
            </a:r>
            <a:r>
              <a:rPr lang="en-US" altLang="zh-CN" dirty="0"/>
              <a:t>      MF1933040  </a:t>
            </a:r>
            <a:r>
              <a:rPr lang="zh-CN" altLang="en-US" dirty="0"/>
              <a:t>贾晓玉</a:t>
            </a:r>
            <a:endParaRPr lang="en-US" altLang="zh-CN" dirty="0"/>
          </a:p>
          <a:p>
            <a:r>
              <a:rPr lang="en-US" altLang="zh-CN" dirty="0"/>
              <a:t>MG1933060 </a:t>
            </a:r>
            <a:r>
              <a:rPr lang="zh-CN" altLang="en-US" dirty="0"/>
              <a:t>王文</a:t>
            </a:r>
            <a:r>
              <a:rPr lang="en-US" altLang="zh-CN" dirty="0"/>
              <a:t>          MG1933088  </a:t>
            </a:r>
            <a:r>
              <a:rPr lang="zh-CN" altLang="en-US" dirty="0"/>
              <a:t>袁佳莉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58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58B31-1BD5-4B7C-8F2E-A44A39C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call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D1285A0-E258-4294-9FE9-77E3D7C582A7}"/>
              </a:ext>
            </a:extLst>
          </p:cNvPr>
          <p:cNvSpPr/>
          <p:nvPr/>
        </p:nvSpPr>
        <p:spPr>
          <a:xfrm>
            <a:off x="877824" y="1864552"/>
            <a:ext cx="2776654" cy="75895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B485E30-68F7-4459-A795-3FC3A343191E}"/>
              </a:ext>
            </a:extLst>
          </p:cNvPr>
          <p:cNvSpPr/>
          <p:nvPr/>
        </p:nvSpPr>
        <p:spPr>
          <a:xfrm>
            <a:off x="877824" y="2893377"/>
            <a:ext cx="2776654" cy="75895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Android framework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F49691-3E32-4932-A687-A4562D8221C6}"/>
              </a:ext>
            </a:extLst>
          </p:cNvPr>
          <p:cNvSpPr/>
          <p:nvPr/>
        </p:nvSpPr>
        <p:spPr>
          <a:xfrm>
            <a:off x="877824" y="3922202"/>
            <a:ext cx="2776654" cy="75895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Libraries/Runtime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A2EB56-EE9E-4FBB-AD46-E26935D45DC7}"/>
              </a:ext>
            </a:extLst>
          </p:cNvPr>
          <p:cNvSpPr/>
          <p:nvPr/>
        </p:nvSpPr>
        <p:spPr>
          <a:xfrm>
            <a:off x="877824" y="4919213"/>
            <a:ext cx="2776654" cy="75895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Linux kernel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39DAB9A-01D5-499B-9EF6-C46D42653FD2}"/>
              </a:ext>
            </a:extLst>
          </p:cNvPr>
          <p:cNvSpPr txBox="1"/>
          <p:nvPr/>
        </p:nvSpPr>
        <p:spPr>
          <a:xfrm>
            <a:off x="3962400" y="2043973"/>
            <a:ext cx="1844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Send a message</a:t>
            </a:r>
            <a:endParaRPr lang="zh-CN" altLang="en-US" sz="2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A24AA1-FCE4-4A0E-A817-2669D99A78B3}"/>
              </a:ext>
            </a:extLst>
          </p:cNvPr>
          <p:cNvSpPr/>
          <p:nvPr/>
        </p:nvSpPr>
        <p:spPr>
          <a:xfrm>
            <a:off x="3962400" y="3072798"/>
            <a:ext cx="3038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NimbusRomNo9L-Regu"/>
              </a:rPr>
              <a:t>Telephony Manager service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C28B6F-9285-43D8-BE4D-04858B0F8FD7}"/>
              </a:ext>
            </a:extLst>
          </p:cNvPr>
          <p:cNvSpPr/>
          <p:nvPr/>
        </p:nvSpPr>
        <p:spPr>
          <a:xfrm>
            <a:off x="3962400" y="4034388"/>
            <a:ext cx="3169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NimbusRomNo9L-Regu"/>
              </a:rPr>
              <a:t>Executes it in the Dalvik Virtual</a:t>
            </a:r>
          </a:p>
          <a:p>
            <a:r>
              <a:rPr lang="en-US" altLang="zh-CN" dirty="0">
                <a:latin typeface="NimbusRomNo9L-Regu"/>
              </a:rPr>
              <a:t>Machine/ART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977532-5A05-4214-8FBD-60ED4533E2D0}"/>
              </a:ext>
            </a:extLst>
          </p:cNvPr>
          <p:cNvSpPr/>
          <p:nvPr/>
        </p:nvSpPr>
        <p:spPr>
          <a:xfrm>
            <a:off x="3962400" y="49755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>
                <a:latin typeface="txtt"/>
              </a:rPr>
              <a:t>Sendmsg</a:t>
            </a:r>
            <a:r>
              <a:rPr lang="en-US" altLang="zh-CN" dirty="0">
                <a:latin typeface="txtt"/>
              </a:rPr>
              <a:t>(int </a:t>
            </a:r>
            <a:r>
              <a:rPr lang="en-US" altLang="zh-CN" dirty="0" err="1">
                <a:latin typeface="txtt"/>
              </a:rPr>
              <a:t>sockfd</a:t>
            </a:r>
            <a:r>
              <a:rPr lang="en-US" altLang="zh-CN" dirty="0">
                <a:latin typeface="txtt"/>
              </a:rPr>
              <a:t>, const struct </a:t>
            </a:r>
            <a:r>
              <a:rPr lang="en-US" altLang="zh-CN" dirty="0" err="1">
                <a:latin typeface="txtt"/>
              </a:rPr>
              <a:t>msghdr</a:t>
            </a:r>
            <a:r>
              <a:rPr lang="en-US" altLang="zh-CN" dirty="0">
                <a:latin typeface="txtt"/>
              </a:rPr>
              <a:t>* msg,</a:t>
            </a:r>
          </a:p>
          <a:p>
            <a:r>
              <a:rPr lang="en-US" altLang="zh-CN" dirty="0">
                <a:latin typeface="txtt"/>
              </a:rPr>
              <a:t>unsigned int flags)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587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BE732-354C-4702-A31F-EBB1BFB4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Android malware classification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EBB0D4-2918-489D-802A-DC235B0F5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binary classification problem</a:t>
            </a:r>
          </a:p>
          <a:p>
            <a:pPr lvl="1"/>
            <a:r>
              <a:rPr lang="en-US" altLang="zh-CN" dirty="0"/>
              <a:t>Determining weather the android application is malware</a:t>
            </a:r>
          </a:p>
          <a:p>
            <a:r>
              <a:rPr lang="en-US" altLang="zh-CN" dirty="0"/>
              <a:t>multiple classification problem[1]</a:t>
            </a:r>
          </a:p>
          <a:p>
            <a:pPr lvl="1"/>
            <a:r>
              <a:rPr lang="en-US" altLang="zh-CN" dirty="0"/>
              <a:t>Malware that Affects Banking</a:t>
            </a:r>
          </a:p>
          <a:p>
            <a:pPr lvl="1"/>
            <a:r>
              <a:rPr lang="en-US" altLang="zh-CN" dirty="0"/>
              <a:t>Malware that can Make Calls and Send SMS</a:t>
            </a:r>
          </a:p>
          <a:p>
            <a:pPr lvl="1"/>
            <a:r>
              <a:rPr lang="en-US" altLang="zh-CN" dirty="0"/>
              <a:t>Ransomware</a:t>
            </a:r>
          </a:p>
          <a:p>
            <a:pPr lvl="1"/>
            <a:r>
              <a:rPr lang="en-US" altLang="zh-CN" dirty="0"/>
              <a:t>Spyware</a:t>
            </a:r>
          </a:p>
          <a:p>
            <a:pPr lvl="1"/>
            <a:r>
              <a:rPr lang="en-US" altLang="zh-CN" dirty="0"/>
              <a:t>Other types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B57E92-D6EC-4412-AEA8-710630F48C60}"/>
              </a:ext>
            </a:extLst>
          </p:cNvPr>
          <p:cNvSpPr/>
          <p:nvPr/>
        </p:nvSpPr>
        <p:spPr>
          <a:xfrm>
            <a:off x="628650" y="6071512"/>
            <a:ext cx="7886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[1] https://tweaklibrary.com/some-common-and-popular-types-of-android-mobile-malware/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905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EC0961-5520-44F5-B0F2-88DE24A2173B}"/>
              </a:ext>
            </a:extLst>
          </p:cNvPr>
          <p:cNvSpPr/>
          <p:nvPr/>
        </p:nvSpPr>
        <p:spPr>
          <a:xfrm>
            <a:off x="936171" y="2253343"/>
            <a:ext cx="7184572" cy="10994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534128-02DA-4667-AEFE-2E7B34C1B1B7}"/>
              </a:ext>
            </a:extLst>
          </p:cNvPr>
          <p:cNvSpPr/>
          <p:nvPr/>
        </p:nvSpPr>
        <p:spPr>
          <a:xfrm>
            <a:off x="936171" y="3429000"/>
            <a:ext cx="7184572" cy="10994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0A931A-ABA8-4994-ADC0-C9BE6D58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Deep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15BC55-7EBA-4C8C-991F-A557D2E5F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deep learning?</a:t>
            </a:r>
          </a:p>
          <a:p>
            <a:pPr lvl="1"/>
            <a:r>
              <a:rPr lang="en-US" altLang="zh-CN" dirty="0"/>
              <a:t>End to end</a:t>
            </a:r>
          </a:p>
          <a:p>
            <a:pPr lvl="1"/>
            <a:r>
              <a:rPr lang="en-US" altLang="zh-CN" dirty="0"/>
              <a:t>Hierarchical feature extraction architecture may learn more useful representation</a:t>
            </a:r>
          </a:p>
          <a:p>
            <a:pPr lvl="1"/>
            <a:r>
              <a:rPr lang="en-US" altLang="zh-CN" dirty="0"/>
              <a:t>Hardware</a:t>
            </a:r>
          </a:p>
          <a:p>
            <a:pPr lvl="1"/>
            <a:r>
              <a:rPr lang="en-US" altLang="zh-CN" dirty="0"/>
              <a:t>Dataset</a:t>
            </a:r>
          </a:p>
          <a:p>
            <a:pPr lvl="1"/>
            <a:r>
              <a:rPr lang="en-US" altLang="zh-CN" dirty="0"/>
              <a:t>Algorithms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931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A603E-08B9-4C3D-BD5D-4829D9D4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RQs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726D37-136C-4A18-9DB9-0E029052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RQ1</a:t>
            </a:r>
          </a:p>
          <a:p>
            <a:pPr lvl="1"/>
            <a:r>
              <a:rPr lang="en-US" altLang="zh-CN" dirty="0"/>
              <a:t>Can deep learning method extract better features than human expert?</a:t>
            </a:r>
          </a:p>
          <a:p>
            <a:r>
              <a:rPr lang="en-US" altLang="zh-CN" dirty="0"/>
              <a:t>RQ2</a:t>
            </a:r>
          </a:p>
          <a:p>
            <a:pPr lvl="1"/>
            <a:r>
              <a:rPr lang="en-US" altLang="zh-CN" dirty="0"/>
              <a:t>Time efficiency?/Data efficiency?</a:t>
            </a:r>
          </a:p>
          <a:p>
            <a:r>
              <a:rPr lang="en-US" altLang="zh-CN" dirty="0"/>
              <a:t>RQ3</a:t>
            </a:r>
          </a:p>
          <a:p>
            <a:pPr lvl="1"/>
            <a:r>
              <a:rPr lang="en-US" altLang="zh-CN" dirty="0"/>
              <a:t>How the hyperparameters and network architecture affect the effectiveness of algorithm?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182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CAC52-AEB4-4B9D-B412-E798EF93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C68EAD-F379-45F6-B33C-21746084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Android Malware Detection Based On System Calls[2]</a:t>
            </a:r>
          </a:p>
          <a:p>
            <a:pPr lvl="1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D1EAD4-FFD8-4994-A627-C56187A348D5}"/>
              </a:ext>
            </a:extLst>
          </p:cNvPr>
          <p:cNvSpPr/>
          <p:nvPr/>
        </p:nvSpPr>
        <p:spPr>
          <a:xfrm>
            <a:off x="628650" y="6007686"/>
            <a:ext cx="66974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[2] </a:t>
            </a:r>
            <a:r>
              <a:rPr lang="en-US" altLang="zh-CN" sz="800" dirty="0" err="1">
                <a:solidFill>
                  <a:srgbClr val="222222"/>
                </a:solidFill>
                <a:latin typeface="Arial" panose="020B0604020202020204" pitchFamily="34" charset="0"/>
              </a:rPr>
              <a:t>Dimjaševic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 M, Atzeni S, </a:t>
            </a:r>
            <a:r>
              <a:rPr lang="en-US" altLang="zh-CN" sz="800" dirty="0" err="1">
                <a:solidFill>
                  <a:srgbClr val="222222"/>
                </a:solidFill>
                <a:latin typeface="Arial" panose="020B0604020202020204" pitchFamily="34" charset="0"/>
              </a:rPr>
              <a:t>Ugrina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 I, et al. Android malware detection based on system calls[J]. University of Utah, Tech. Rep, 2015.</a:t>
            </a:r>
            <a:endParaRPr lang="zh-CN" altLang="en-US" sz="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51EFA2-64D9-45D2-AEAE-B2F3890E1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72" y="3267369"/>
            <a:ext cx="6877503" cy="1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4713A-F8C5-4478-8ECE-02211769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DAEE63-3174-4D75-8E4B-8681BC40D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Deep Learning for Classification of Malware System Call Sequences[3]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555F95-598A-49A3-83DB-C3372BCF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171" y="2625544"/>
            <a:ext cx="2612571" cy="31242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15C3E96-53B9-41E8-98B8-9A6D4CB0DC9A}"/>
              </a:ext>
            </a:extLst>
          </p:cNvPr>
          <p:cNvSpPr/>
          <p:nvPr/>
        </p:nvSpPr>
        <p:spPr>
          <a:xfrm>
            <a:off x="979714" y="6176963"/>
            <a:ext cx="71845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[3] </a:t>
            </a:r>
            <a:r>
              <a:rPr lang="en-US" altLang="zh-CN" sz="800" dirty="0" err="1">
                <a:solidFill>
                  <a:srgbClr val="222222"/>
                </a:solidFill>
                <a:latin typeface="Arial" panose="020B0604020202020204" pitchFamily="34" charset="0"/>
              </a:rPr>
              <a:t>Kolosnjaji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 B, </a:t>
            </a:r>
            <a:r>
              <a:rPr lang="en-US" altLang="zh-CN" sz="800" dirty="0" err="1">
                <a:solidFill>
                  <a:srgbClr val="222222"/>
                </a:solidFill>
                <a:latin typeface="Arial" panose="020B0604020202020204" pitchFamily="34" charset="0"/>
              </a:rPr>
              <a:t>Zarras</a:t>
            </a:r>
            <a:r>
              <a:rPr lang="en-US" altLang="zh-CN" sz="800" dirty="0">
                <a:solidFill>
                  <a:srgbClr val="222222"/>
                </a:solidFill>
                <a:latin typeface="Arial" panose="020B0604020202020204" pitchFamily="34" charset="0"/>
              </a:rPr>
              <a:t> A, Webster G, et al. Deep learning for classification of malware system call sequences[C]//Australasian Joint Conference on Artificial Intelligence. Springer, Cham, 2016: 137-149.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925883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8F184A40-93D0-4A11-A19A-0A962A924E32}"/>
              </a:ext>
            </a:extLst>
          </p:cNvPr>
          <p:cNvSpPr/>
          <p:nvPr/>
        </p:nvSpPr>
        <p:spPr>
          <a:xfrm>
            <a:off x="293915" y="4539343"/>
            <a:ext cx="8556172" cy="147732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5AF2E9A-9A68-478D-8170-F5C2099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D83FA6A-588F-4D7F-9FF1-D0EAB68CF4CA}"/>
              </a:ext>
            </a:extLst>
          </p:cNvPr>
          <p:cNvGrpSpPr/>
          <p:nvPr/>
        </p:nvGrpSpPr>
        <p:grpSpPr>
          <a:xfrm>
            <a:off x="409266" y="2977203"/>
            <a:ext cx="873735" cy="796369"/>
            <a:chOff x="1414272" y="2779777"/>
            <a:chExt cx="1213910" cy="1106423"/>
          </a:xfrm>
        </p:grpSpPr>
        <p:pic>
          <p:nvPicPr>
            <p:cNvPr id="2050" name="Picture 2" descr="“安卓图标”的图片搜索结果">
              <a:extLst>
                <a:ext uri="{FF2B5EF4-FFF2-40B4-BE49-F238E27FC236}">
                  <a16:creationId xmlns:a16="http://schemas.microsoft.com/office/drawing/2014/main" id="{D9848D9F-CAEC-42A4-86D2-F882EF45A6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74" t="31813" r="33543" b="21837"/>
            <a:stretch/>
          </p:blipFill>
          <p:spPr bwMode="auto">
            <a:xfrm>
              <a:off x="1414272" y="2779777"/>
              <a:ext cx="756710" cy="649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“安卓图标”的图片搜索结果">
              <a:extLst>
                <a:ext uri="{FF2B5EF4-FFF2-40B4-BE49-F238E27FC236}">
                  <a16:creationId xmlns:a16="http://schemas.microsoft.com/office/drawing/2014/main" id="{AC34356D-827B-4664-910B-10EEF15217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74" t="31813" r="33543" b="21837"/>
            <a:stretch/>
          </p:blipFill>
          <p:spPr bwMode="auto">
            <a:xfrm>
              <a:off x="1566672" y="2932177"/>
              <a:ext cx="756710" cy="649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“安卓图标”的图片搜索结果">
              <a:extLst>
                <a:ext uri="{FF2B5EF4-FFF2-40B4-BE49-F238E27FC236}">
                  <a16:creationId xmlns:a16="http://schemas.microsoft.com/office/drawing/2014/main" id="{579B57E0-9480-46FD-81DF-3377112A3C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74" t="31813" r="33543" b="21837"/>
            <a:stretch/>
          </p:blipFill>
          <p:spPr bwMode="auto">
            <a:xfrm>
              <a:off x="1719072" y="3084577"/>
              <a:ext cx="756710" cy="649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“安卓图标”的图片搜索结果">
              <a:extLst>
                <a:ext uri="{FF2B5EF4-FFF2-40B4-BE49-F238E27FC236}">
                  <a16:creationId xmlns:a16="http://schemas.microsoft.com/office/drawing/2014/main" id="{AE54F7C4-BCE6-4FD3-9FCB-74F4C702A1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74" t="31813" r="33543" b="21837"/>
            <a:stretch/>
          </p:blipFill>
          <p:spPr bwMode="auto">
            <a:xfrm>
              <a:off x="1871472" y="3236977"/>
              <a:ext cx="756710" cy="649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19339D9-D1DB-439B-84DA-856DE0F5D2E7}"/>
              </a:ext>
            </a:extLst>
          </p:cNvPr>
          <p:cNvSpPr/>
          <p:nvPr/>
        </p:nvSpPr>
        <p:spPr>
          <a:xfrm>
            <a:off x="1856968" y="2625328"/>
            <a:ext cx="2227352" cy="162584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(1) Run in a sandbox environment</a:t>
            </a:r>
          </a:p>
          <a:p>
            <a:r>
              <a:rPr lang="en-US" altLang="zh-CN" sz="1600" dirty="0"/>
              <a:t>(2) Track system calls </a:t>
            </a:r>
            <a:endParaRPr lang="zh-CN" altLang="en-US" sz="16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3D17DD-E148-4862-95D7-C6EB8944E947}"/>
              </a:ext>
            </a:extLst>
          </p:cNvPr>
          <p:cNvSpPr/>
          <p:nvPr/>
        </p:nvSpPr>
        <p:spPr>
          <a:xfrm>
            <a:off x="4658287" y="2719992"/>
            <a:ext cx="1621536" cy="162153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ANN</a:t>
            </a:r>
            <a:endParaRPr lang="zh-CN" altLang="en-US" dirty="0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2CF19AA-145E-4251-8D98-3E6A2B6918D1}"/>
              </a:ext>
            </a:extLst>
          </p:cNvPr>
          <p:cNvSpPr/>
          <p:nvPr/>
        </p:nvSpPr>
        <p:spPr>
          <a:xfrm>
            <a:off x="1440264" y="3412888"/>
            <a:ext cx="354583" cy="23364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A6FBF34B-36B3-45AF-B5D6-ADFEB012907F}"/>
              </a:ext>
            </a:extLst>
          </p:cNvPr>
          <p:cNvSpPr/>
          <p:nvPr/>
        </p:nvSpPr>
        <p:spPr>
          <a:xfrm>
            <a:off x="4194012" y="3423990"/>
            <a:ext cx="354583" cy="23364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5EC46A68-E55D-48F0-A7AC-FC48E6FC8BD2}"/>
              </a:ext>
            </a:extLst>
          </p:cNvPr>
          <p:cNvSpPr/>
          <p:nvPr/>
        </p:nvSpPr>
        <p:spPr>
          <a:xfrm>
            <a:off x="6400765" y="3438250"/>
            <a:ext cx="354583" cy="23364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0ECD4A9-F618-4432-B525-95C03AA345A1}"/>
              </a:ext>
            </a:extLst>
          </p:cNvPr>
          <p:cNvGrpSpPr/>
          <p:nvPr/>
        </p:nvGrpSpPr>
        <p:grpSpPr>
          <a:xfrm>
            <a:off x="7015032" y="2960743"/>
            <a:ext cx="1323640" cy="1117629"/>
            <a:chOff x="7015032" y="2960743"/>
            <a:chExt cx="1323640" cy="1117629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C970194-9BC8-4AB5-9908-46F16AF45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5032" y="2960743"/>
              <a:ext cx="731583" cy="487722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0DA7A7E4-5184-4EC9-821E-53CEFF4E3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9889" y="3133450"/>
              <a:ext cx="731583" cy="48772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D6141B1-666C-41C9-821D-36A0929A6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2289" y="3285850"/>
              <a:ext cx="731583" cy="487722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D8C8962-F6DD-45BD-A017-0E8867480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54689" y="3438250"/>
              <a:ext cx="731583" cy="487722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B9FD8DC9-10DF-43A7-814D-3FFCF4351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7089" y="3590650"/>
              <a:ext cx="731583" cy="487722"/>
            </a:xfrm>
            <a:prstGeom prst="rect">
              <a:avLst/>
            </a:prstGeom>
          </p:spPr>
        </p:pic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F1451E9-4437-4EAB-9C76-90CF56AE5577}"/>
              </a:ext>
            </a:extLst>
          </p:cNvPr>
          <p:cNvSpPr/>
          <p:nvPr/>
        </p:nvSpPr>
        <p:spPr>
          <a:xfrm>
            <a:off x="355920" y="4787247"/>
            <a:ext cx="151817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Android</a:t>
            </a:r>
          </a:p>
          <a:p>
            <a:pPr algn="ctr"/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Apps</a:t>
            </a:r>
            <a:endParaRPr lang="zh-CN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795F74-8886-4569-A7A8-621584F0D722}"/>
              </a:ext>
            </a:extLst>
          </p:cNvPr>
          <p:cNvSpPr/>
          <p:nvPr/>
        </p:nvSpPr>
        <p:spPr>
          <a:xfrm>
            <a:off x="2378976" y="4816479"/>
            <a:ext cx="118333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</a:t>
            </a:r>
          </a:p>
          <a:p>
            <a:pPr algn="ctr"/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Call</a:t>
            </a:r>
          </a:p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sequence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0E1031-5B95-4BAA-A3CD-D32F6DC8336B}"/>
              </a:ext>
            </a:extLst>
          </p:cNvPr>
          <p:cNvSpPr/>
          <p:nvPr/>
        </p:nvSpPr>
        <p:spPr>
          <a:xfrm>
            <a:off x="4149245" y="4951309"/>
            <a:ext cx="28648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1D convnet or</a:t>
            </a:r>
          </a:p>
          <a:p>
            <a:pPr algn="ctr"/>
            <a:r>
              <a:rPr lang="en-US" altLang="zh-CN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Recurrent neural network</a:t>
            </a:r>
            <a:endParaRPr lang="zh-CN" alt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7003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01BCC-F153-44A5-9C46-E04C7FD5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Tools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6A483-795C-4842-8E40-988DD9D3C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MALINE </a:t>
            </a:r>
          </a:p>
          <a:p>
            <a:pPr lvl="1"/>
            <a:r>
              <a:rPr lang="en-US" altLang="zh-CN" dirty="0"/>
              <a:t>Free and open-source tool</a:t>
            </a:r>
          </a:p>
          <a:p>
            <a:pPr lvl="1"/>
            <a:r>
              <a:rPr lang="en-US" altLang="zh-CN" dirty="0"/>
              <a:t>Track system calls</a:t>
            </a:r>
          </a:p>
          <a:p>
            <a:r>
              <a:rPr lang="en-US" altLang="zh-CN" dirty="0"/>
              <a:t>Pytorch</a:t>
            </a:r>
          </a:p>
          <a:p>
            <a:pPr lvl="1"/>
            <a:r>
              <a:rPr lang="en-US" altLang="zh-CN" dirty="0"/>
              <a:t>An open source machine learning framework that accelerates the path from research prototyping to production deployment.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18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A4C82-B498-416C-9017-05BFC2DA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 metrics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61F84C-87DB-46AA-AD6E-E62FB8D32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Effectiveness</a:t>
            </a:r>
          </a:p>
          <a:p>
            <a:pPr lvl="1"/>
            <a:r>
              <a:rPr lang="en-US" altLang="zh-CN" dirty="0"/>
              <a:t>Accuracy</a:t>
            </a:r>
          </a:p>
          <a:p>
            <a:pPr lvl="1"/>
            <a:r>
              <a:rPr lang="en-US" altLang="zh-CN" dirty="0"/>
              <a:t>Error rate</a:t>
            </a:r>
          </a:p>
          <a:p>
            <a:pPr lvl="1"/>
            <a:r>
              <a:rPr lang="en-US" altLang="zh-CN" dirty="0"/>
              <a:t>Recall</a:t>
            </a:r>
          </a:p>
          <a:p>
            <a:pPr lvl="1"/>
            <a:r>
              <a:rPr lang="en-US" altLang="zh-CN" dirty="0"/>
              <a:t>Precision</a:t>
            </a:r>
          </a:p>
          <a:p>
            <a:r>
              <a:rPr lang="en-US" altLang="zh-CN" dirty="0"/>
              <a:t>Efficiency</a:t>
            </a:r>
          </a:p>
          <a:p>
            <a:pPr lvl="1"/>
            <a:r>
              <a:rPr lang="en-US" altLang="zh-CN" dirty="0"/>
              <a:t>Time cost</a:t>
            </a:r>
          </a:p>
          <a:p>
            <a:pPr lvl="1"/>
            <a:r>
              <a:rPr lang="en-US" altLang="zh-CN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174655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18843-6C36-4E30-B6A4-95E2EE62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CCFAEC-FF16-4E9E-A111-21EA2BE17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hlinkClick r:id="rId3"/>
              </a:rPr>
              <a:t>https://thezoo.morirt.com/</a:t>
            </a:r>
            <a:endParaRPr lang="en-US" altLang="zh-CN" dirty="0"/>
          </a:p>
          <a:p>
            <a:pPr lvl="1"/>
            <a:r>
              <a:rPr lang="en-US" altLang="zh-CN" dirty="0" err="1"/>
              <a:t>theZoo</a:t>
            </a:r>
            <a:r>
              <a:rPr lang="en-US" altLang="zh-CN" dirty="0"/>
              <a:t> is a project created to make the possibility of malware analysis open and available to the public.</a:t>
            </a:r>
          </a:p>
          <a:p>
            <a:r>
              <a:rPr lang="en-US" altLang="zh-CN" dirty="0">
                <a:hlinkClick r:id="rId4"/>
              </a:rPr>
              <a:t>https://github.com/ashishb/android-malware/</a:t>
            </a:r>
            <a:endParaRPr lang="en-US" altLang="zh-CN" dirty="0"/>
          </a:p>
          <a:p>
            <a:pPr lvl="1"/>
            <a:r>
              <a:rPr lang="en-US" altLang="zh-CN" dirty="0"/>
              <a:t>The largest open collection of Android malware samples</a:t>
            </a:r>
            <a:endParaRPr lang="en-US" altLang="zh-CN" dirty="0">
              <a:hlinkClick r:id="rId5"/>
            </a:endParaRPr>
          </a:p>
          <a:p>
            <a:r>
              <a:rPr lang="en-US" altLang="zh-CN" dirty="0">
                <a:hlinkClick r:id="rId5"/>
              </a:rPr>
              <a:t>https://www.virustotal.com/gui/home/search</a:t>
            </a:r>
            <a:endParaRPr lang="en-US" altLang="zh-CN" dirty="0"/>
          </a:p>
          <a:p>
            <a:pPr lvl="1"/>
            <a:r>
              <a:rPr lang="en-US" altLang="zh-CN" dirty="0"/>
              <a:t>Analyze suspicious files and URLs to detect types of malware, automatically share them with the security community</a:t>
            </a:r>
          </a:p>
        </p:txBody>
      </p:sp>
    </p:spTree>
    <p:extLst>
      <p:ext uri="{BB962C8B-B14F-4D97-AF65-F5344CB8AC3E}">
        <p14:creationId xmlns:p14="http://schemas.microsoft.com/office/powerpoint/2010/main" val="282233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30631-8370-487F-8824-3A36DB25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F3B9B-C0B9-4A5E-83F9-19E737519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69F114-0BD1-4FC3-9F92-38ABE8E6BE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54"/>
          <a:stretch/>
        </p:blipFill>
        <p:spPr>
          <a:xfrm>
            <a:off x="390803" y="2549752"/>
            <a:ext cx="8362394" cy="23513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2689EA-8B27-46F9-92D4-98C96400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583" y="2225017"/>
            <a:ext cx="5338903" cy="35525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695F07-12B4-404B-B2EE-E1DCFEA1D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03" y="2523001"/>
            <a:ext cx="8786194" cy="29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8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B7001-513C-459A-84A4-75FD4691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DBF5F-A4D9-4D5F-B611-EA5E8BB4A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11.04 – 11.10</a:t>
            </a:r>
          </a:p>
          <a:p>
            <a:pPr lvl="1"/>
            <a:r>
              <a:rPr lang="en-US" altLang="zh-CN" dirty="0"/>
              <a:t>Data collection</a:t>
            </a:r>
          </a:p>
          <a:p>
            <a:r>
              <a:rPr lang="en-US" altLang="zh-CN" dirty="0"/>
              <a:t>11.11 – 11.24</a:t>
            </a:r>
          </a:p>
          <a:p>
            <a:pPr lvl="1"/>
            <a:r>
              <a:rPr lang="en-US" altLang="zh-CN" dirty="0"/>
              <a:t>Experiment design &amp; implementation</a:t>
            </a:r>
          </a:p>
          <a:p>
            <a:r>
              <a:rPr lang="en-US" altLang="zh-CN" dirty="0"/>
              <a:t>11.25 – 12.01</a:t>
            </a:r>
          </a:p>
          <a:p>
            <a:pPr lvl="1"/>
            <a:r>
              <a:rPr lang="en-US" altLang="zh-CN" dirty="0"/>
              <a:t>Result analysis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72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FEE9E-F6F8-4628-BC47-64D2A029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Expected outcomes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C4385-D800-469A-AB07-092D26668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deep learning method may perform better than some hand-craft program</a:t>
            </a:r>
          </a:p>
          <a:p>
            <a:r>
              <a:rPr lang="en-US" altLang="zh-CN" dirty="0"/>
              <a:t>The deep learning method may use much more time and much more samples than human expert</a:t>
            </a:r>
          </a:p>
          <a:p>
            <a:r>
              <a:rPr lang="en-US" altLang="zh-CN" dirty="0"/>
              <a:t>The result may be sensitive to the hyperparameters and network architecture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243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CB41E3-A576-4B90-88CB-355C64965699}"/>
              </a:ext>
            </a:extLst>
          </p:cNvPr>
          <p:cNvSpPr/>
          <p:nvPr/>
        </p:nvSpPr>
        <p:spPr>
          <a:xfrm>
            <a:off x="3004355" y="2644170"/>
            <a:ext cx="313529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9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Q&amp;A</a:t>
            </a:r>
            <a:endParaRPr lang="zh-CN" altLang="en-US" sz="9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3808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621</Words>
  <Application>Microsoft Office PowerPoint</Application>
  <PresentationFormat>全屏显示(4:3)</PresentationFormat>
  <Paragraphs>123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NimbusRomNo9L-Regu</vt:lpstr>
      <vt:lpstr>txtt</vt:lpstr>
      <vt:lpstr>等线</vt:lpstr>
      <vt:lpstr>Arial</vt:lpstr>
      <vt:lpstr>Calibri</vt:lpstr>
      <vt:lpstr>Calibri Light</vt:lpstr>
      <vt:lpstr>Office 主题​​</vt:lpstr>
      <vt:lpstr>Deep Android Malware Classification via System Call Sequence</vt:lpstr>
      <vt:lpstr>System call</vt:lpstr>
      <vt:lpstr>Android malware classification</vt:lpstr>
      <vt:lpstr>Deep learning</vt:lpstr>
      <vt:lpstr>RQs</vt:lpstr>
      <vt:lpstr>Related work</vt:lpstr>
      <vt:lpstr>Related work</vt:lpstr>
      <vt:lpstr>Method</vt:lpstr>
      <vt:lpstr>Tools</vt:lpstr>
      <vt:lpstr>Evaluation metrics</vt:lpstr>
      <vt:lpstr>Dataset</vt:lpstr>
      <vt:lpstr>Dataset</vt:lpstr>
      <vt:lpstr>Plan</vt:lpstr>
      <vt:lpstr>Expected outcomes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 wen</dc:creator>
  <cp:lastModifiedBy>wen wen</cp:lastModifiedBy>
  <cp:revision>189</cp:revision>
  <dcterms:created xsi:type="dcterms:W3CDTF">2019-11-03T14:58:04Z</dcterms:created>
  <dcterms:modified xsi:type="dcterms:W3CDTF">2019-11-04T14:31:50Z</dcterms:modified>
</cp:coreProperties>
</file>